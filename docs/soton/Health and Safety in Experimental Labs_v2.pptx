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4_CC6E8862.xml" ContentType="application/vnd.ms-powerpoint.comments+xml"/>
  <Override PartName="/ppt/comments/modernComment_102_FF233E8A.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30_201CA7A.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E_558A982C.xml" ContentType="application/vnd.ms-powerpoint.comments+xml"/>
  <Override PartName="/ppt/notesSlides/notesSlide12.xml" ContentType="application/vnd.openxmlformats-officedocument.presentationml.notesSlide+xml"/>
  <Override PartName="/ppt/comments/modernComment_108_ACDF4FB7.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62" r:id="rId3"/>
    <p:sldId id="257" r:id="rId4"/>
    <p:sldId id="260" r:id="rId5"/>
    <p:sldId id="258" r:id="rId6"/>
    <p:sldId id="259" r:id="rId7"/>
    <p:sldId id="263" r:id="rId8"/>
    <p:sldId id="261" r:id="rId9"/>
    <p:sldId id="299" r:id="rId10"/>
    <p:sldId id="314" r:id="rId11"/>
    <p:sldId id="309" r:id="rId12"/>
    <p:sldId id="304" r:id="rId13"/>
    <p:sldId id="349" r:id="rId14"/>
    <p:sldId id="270" r:id="rId15"/>
    <p:sldId id="264" r:id="rId16"/>
    <p:sldId id="269" r:id="rId17"/>
    <p:sldId id="311" r:id="rId18"/>
    <p:sldId id="272" r:id="rId19"/>
    <p:sldId id="350" r:id="rId20"/>
    <p:sldId id="32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D7F4D9-6EB1-FAF1-DDA1-53761FEB4165}" name="Mike Bartlett" initials="MB" userId="S::mhb@soton.ac.uk::8c34ff58-3f08-4f01-9627-7d5dee2840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2" autoAdjust="0"/>
    <p:restoredTop sz="73284" autoAdjust="0"/>
  </p:normalViewPr>
  <p:slideViewPr>
    <p:cSldViewPr snapToGrid="0">
      <p:cViewPr varScale="1">
        <p:scale>
          <a:sx n="46" d="100"/>
          <a:sy n="46" d="100"/>
        </p:scale>
        <p:origin x="628" y="4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8/10/relationships/authors" Target="authors.xml"/></Relationships>
</file>

<file path=ppt/comments/modernComment_10E_558A982C.xml><?xml version="1.0" encoding="utf-8"?>
<p188:cmLst xmlns:a="http://schemas.openxmlformats.org/drawingml/2006/main" xmlns:r="http://schemas.openxmlformats.org/officeDocument/2006/relationships" xmlns:p188="http://schemas.microsoft.com/office/powerpoint/2018/8/main">
  <p188:cm id="{574D30C8-C706-4B9A-9BBB-C3231AA31846}" authorId="{5AD7F4D9-6EB1-FAF1-DDA1-53761FEB4165}" created="2024-07-17T11:39:07.468">
    <ac:txMkLst xmlns:ac="http://schemas.microsoft.com/office/drawing/2013/main/command">
      <pc:docMk xmlns:pc="http://schemas.microsoft.com/office/powerpoint/2013/main/command"/>
      <pc:sldMk xmlns:pc="http://schemas.microsoft.com/office/powerpoint/2013/main/command" cId="1435146284" sldId="270"/>
      <ac:spMk id="2" creationId="{FD97CEA7-B393-4AA7-EAE4-F8D3A313B6C7}"/>
      <ac:txMk cp="0" len="17">
        <ac:context len="18" hash="3042820051"/>
      </ac:txMk>
    </ac:txMkLst>
    <p188:pos x="4367784" y="646811"/>
    <p188:txBody>
      <a:bodyPr/>
      <a:lstStyle/>
      <a:p>
        <a:r>
          <a:rPr lang="en-GB"/>
          <a:t>Identify the controls</a:t>
        </a:r>
      </a:p>
    </p188:txBody>
  </p188:cm>
</p188:cmLst>
</file>

<file path=ppt/comments/modernComment_102_FF233E8A.xml><?xml version="1.0" encoding="utf-8"?>
<p188:cmLst xmlns:a="http://schemas.openxmlformats.org/drawingml/2006/main" xmlns:r="http://schemas.openxmlformats.org/officeDocument/2006/relationships" xmlns:p188="http://schemas.microsoft.com/office/powerpoint/2018/8/main">
  <p188:cm id="{F3A83CEC-E454-4302-B313-03223A90F4CD}" authorId="{5AD7F4D9-6EB1-FAF1-DDA1-53761FEB4165}" created="2024-07-17T11:10:44.181">
    <ac:txMkLst xmlns:ac="http://schemas.microsoft.com/office/drawing/2013/main/command">
      <pc:docMk xmlns:pc="http://schemas.microsoft.com/office/powerpoint/2013/main/command"/>
      <pc:sldMk xmlns:pc="http://schemas.microsoft.com/office/powerpoint/2013/main/command" cId="4280499850" sldId="258"/>
      <ac:spMk id="3" creationId="{2AA25357-D8AC-CE4F-B240-D43CE765BDF6}"/>
      <ac:txMk cp="33" len="9">
        <ac:context len="183" hash="2864344032"/>
      </ac:txMk>
    </ac:txMkLst>
    <p188:pos x="6708648" y="332359"/>
    <p188:txBody>
      <a:bodyPr/>
      <a:lstStyle/>
      <a:p>
        <a:r>
          <a:rPr lang="en-GB"/>
          <a:t>Replace with hazardous</a:t>
        </a:r>
      </a:p>
    </p188:txBody>
  </p188:cm>
</p188:cmLst>
</file>

<file path=ppt/comments/modernComment_104_CC6E8862.xml><?xml version="1.0" encoding="utf-8"?>
<p188:cmLst xmlns:a="http://schemas.openxmlformats.org/drawingml/2006/main" xmlns:r="http://schemas.openxmlformats.org/officeDocument/2006/relationships" xmlns:p188="http://schemas.microsoft.com/office/powerpoint/2018/8/main">
  <p188:cm id="{A22D403F-877F-43A5-9490-F972D3BB5179}" authorId="{5AD7F4D9-6EB1-FAF1-DDA1-53761FEB4165}" created="2024-07-17T11:20:37.177">
    <ac:txMkLst xmlns:ac="http://schemas.microsoft.com/office/drawing/2013/main/command">
      <pc:docMk xmlns:pc="http://schemas.microsoft.com/office/powerpoint/2013/main/command"/>
      <pc:sldMk xmlns:pc="http://schemas.microsoft.com/office/powerpoint/2013/main/command" cId="3429795938" sldId="260"/>
      <ac:spMk id="2" creationId="{6F4A14F0-B6EC-80FF-AD62-ED100EC232A5}"/>
      <ac:txMk cp="21">
        <ac:context len="34" hash="2666113700"/>
      </ac:txMk>
    </ac:txMkLst>
    <p188:pos x="4209288" y="646811"/>
    <p188:txBody>
      <a:bodyPr/>
      <a:lstStyle/>
      <a:p>
        <a:r>
          <a:rPr lang="en-GB"/>
          <a:t>hazards</a:t>
        </a:r>
      </a:p>
    </p188:txBody>
  </p188:cm>
</p188:cmLst>
</file>

<file path=ppt/comments/modernComment_108_ACDF4FB7.xml><?xml version="1.0" encoding="utf-8"?>
<p188:cmLst xmlns:a="http://schemas.openxmlformats.org/drawingml/2006/main" xmlns:r="http://schemas.openxmlformats.org/officeDocument/2006/relationships" xmlns:p188="http://schemas.microsoft.com/office/powerpoint/2018/8/main">
  <p188:cm id="{67A04EC8-980E-4F6B-8356-96582A838703}" authorId="{5AD7F4D9-6EB1-FAF1-DDA1-53761FEB4165}" created="2024-07-17T11:36:33.168">
    <ac:txMkLst xmlns:ac="http://schemas.microsoft.com/office/drawing/2013/main/command">
      <pc:docMk xmlns:pc="http://schemas.microsoft.com/office/powerpoint/2013/main/command"/>
      <pc:sldMk xmlns:pc="http://schemas.microsoft.com/office/powerpoint/2013/main/command" cId="2900316087" sldId="264"/>
      <ac:spMk id="2" creationId="{2480D1DF-0FA6-D92C-F548-A0CBA8506E25}"/>
      <ac:txMk cp="0" len="40">
        <ac:context len="41" hash="236865846"/>
      </ac:txMk>
    </ac:txMkLst>
    <p188:pos x="9976104" y="646811"/>
    <p188:txBody>
      <a:bodyPr/>
      <a:lstStyle/>
      <a:p>
        <a:r>
          <a:rPr lang="en-GB"/>
          <a:t>Record your findings</a:t>
        </a:r>
      </a:p>
    </p188:txBody>
  </p188:cm>
</p188:cmLst>
</file>

<file path=ppt/comments/modernComment_130_201CA7A.xml><?xml version="1.0" encoding="utf-8"?>
<p188:cmLst xmlns:a="http://schemas.openxmlformats.org/drawingml/2006/main" xmlns:r="http://schemas.openxmlformats.org/officeDocument/2006/relationships" xmlns:p188="http://schemas.microsoft.com/office/powerpoint/2018/8/main">
  <p188:cm id="{806ADE93-5758-49F6-A2DB-55C96D0CD9BC}" authorId="{5AD7F4D9-6EB1-FAF1-DDA1-53761FEB4165}" created="2024-07-17T11:36:08.627">
    <ac:txMkLst xmlns:ac="http://schemas.microsoft.com/office/drawing/2013/main/command">
      <pc:docMk xmlns:pc="http://schemas.microsoft.com/office/powerpoint/2013/main/command"/>
      <pc:sldMk xmlns:pc="http://schemas.microsoft.com/office/powerpoint/2013/main/command" cId="33671802" sldId="304"/>
      <ac:spMk id="5" creationId="{44CA0919-5293-4A70-8F8F-6A8073BD6998}"/>
      <ac:txMk cp="0" len="24">
        <ac:context len="25" hash="3590816667"/>
      </ac:txMk>
    </ac:txMkLst>
    <p188:pos x="4606987" y="262613"/>
    <p188:txBody>
      <a:bodyPr/>
      <a:lstStyle/>
      <a:p>
        <a:r>
          <a:rPr lang="en-GB"/>
          <a:t>Evaluate the risk</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2989C2-2F9D-4736-A009-DB3537A2ADC8}" type="datetimeFigureOut">
              <a:rPr lang="en-GB" smtClean="0"/>
              <a:t>30/09/2025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C36CC-C787-4AD8-867B-487E658E7736}" type="slidenum">
              <a:rPr lang="en-GB" smtClean="0"/>
              <a:t>‹#›</a:t>
            </a:fld>
            <a:endParaRPr lang="en-GB"/>
          </a:p>
        </p:txBody>
      </p:sp>
    </p:spTree>
    <p:extLst>
      <p:ext uri="{BB962C8B-B14F-4D97-AF65-F5344CB8AC3E}">
        <p14:creationId xmlns:p14="http://schemas.microsoft.com/office/powerpoint/2010/main" val="2252023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do you decide whether to cross? Do you worry about falling over when crossing? What if I asked you to cross a motorway? How could you make crossing safer?</a:t>
            </a:r>
          </a:p>
          <a:p>
            <a:endParaRPr lang="en-GB" dirty="0"/>
          </a:p>
          <a:p>
            <a:r>
              <a:rPr lang="en-GB" dirty="0"/>
              <a:t>Final conclusions. You do an assessment of risk all the time. It is mostly common sense and a bit of knowledge. Someone taught you to cross the road because the consequences of not doing so were too great. Before you were able to understand the risk you weren’t allowed to cross the road alone. </a:t>
            </a:r>
          </a:p>
        </p:txBody>
      </p:sp>
      <p:sp>
        <p:nvSpPr>
          <p:cNvPr id="4" name="Slide Number Placeholder 3"/>
          <p:cNvSpPr>
            <a:spLocks noGrp="1"/>
          </p:cNvSpPr>
          <p:nvPr>
            <p:ph type="sldNum" sz="quarter" idx="5"/>
          </p:nvPr>
        </p:nvSpPr>
        <p:spPr/>
        <p:txBody>
          <a:bodyPr/>
          <a:lstStyle/>
          <a:p>
            <a:fld id="{153C36CC-C787-4AD8-867B-487E658E7736}" type="slidenum">
              <a:rPr lang="en-GB" smtClean="0"/>
              <a:t>2</a:t>
            </a:fld>
            <a:endParaRPr lang="en-GB"/>
          </a:p>
        </p:txBody>
      </p:sp>
    </p:spTree>
    <p:extLst>
      <p:ext uri="{BB962C8B-B14F-4D97-AF65-F5344CB8AC3E}">
        <p14:creationId xmlns:p14="http://schemas.microsoft.com/office/powerpoint/2010/main" val="2130997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say you Agree now but people don’t always act accordingly. Imagine you are in a hurry to get your dinner and the safe option is slower. What do you do then? </a:t>
            </a:r>
          </a:p>
        </p:txBody>
      </p:sp>
      <p:sp>
        <p:nvSpPr>
          <p:cNvPr id="4" name="Slide Number Placeholder 3"/>
          <p:cNvSpPr>
            <a:spLocks noGrp="1"/>
          </p:cNvSpPr>
          <p:nvPr>
            <p:ph type="sldNum" sz="quarter" idx="5"/>
          </p:nvPr>
        </p:nvSpPr>
        <p:spPr/>
        <p:txBody>
          <a:bodyPr/>
          <a:lstStyle/>
          <a:p>
            <a:fld id="{153C36CC-C787-4AD8-867B-487E658E7736}" type="slidenum">
              <a:rPr lang="en-GB" smtClean="0"/>
              <a:t>3</a:t>
            </a:fld>
            <a:endParaRPr lang="en-GB"/>
          </a:p>
        </p:txBody>
      </p:sp>
    </p:spTree>
    <p:extLst>
      <p:ext uri="{BB962C8B-B14F-4D97-AF65-F5344CB8AC3E}">
        <p14:creationId xmlns:p14="http://schemas.microsoft.com/office/powerpoint/2010/main" val="3977570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probably didn’t spot them all as you are not familiar with this environment. It is your responsibility to become familiar with the risks and manage them to keep yourself and others safe. </a:t>
            </a:r>
          </a:p>
        </p:txBody>
      </p:sp>
      <p:sp>
        <p:nvSpPr>
          <p:cNvPr id="4" name="Slide Number Placeholder 3"/>
          <p:cNvSpPr>
            <a:spLocks noGrp="1"/>
          </p:cNvSpPr>
          <p:nvPr>
            <p:ph type="sldNum" sz="quarter" idx="5"/>
          </p:nvPr>
        </p:nvSpPr>
        <p:spPr/>
        <p:txBody>
          <a:bodyPr/>
          <a:lstStyle/>
          <a:p>
            <a:fld id="{153C36CC-C787-4AD8-867B-487E658E7736}" type="slidenum">
              <a:rPr lang="en-GB" smtClean="0"/>
              <a:t>4</a:t>
            </a:fld>
            <a:endParaRPr lang="en-GB"/>
          </a:p>
        </p:txBody>
      </p:sp>
    </p:spTree>
    <p:extLst>
      <p:ext uri="{BB962C8B-B14F-4D97-AF65-F5344CB8AC3E}">
        <p14:creationId xmlns:p14="http://schemas.microsoft.com/office/powerpoint/2010/main" val="3632064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Maybe the last should be first but the aim is to do experiments safely not to stop all experiments because some of them could be unsafe. </a:t>
            </a:r>
          </a:p>
        </p:txBody>
      </p:sp>
      <p:sp>
        <p:nvSpPr>
          <p:cNvPr id="4" name="Slide Number Placeholder 3"/>
          <p:cNvSpPr>
            <a:spLocks noGrp="1"/>
          </p:cNvSpPr>
          <p:nvPr>
            <p:ph type="sldNum" sz="quarter" idx="5"/>
          </p:nvPr>
        </p:nvSpPr>
        <p:spPr/>
        <p:txBody>
          <a:bodyPr/>
          <a:lstStyle/>
          <a:p>
            <a:fld id="{153C36CC-C787-4AD8-867B-487E658E7736}" type="slidenum">
              <a:rPr lang="en-GB" smtClean="0"/>
              <a:t>6</a:t>
            </a:fld>
            <a:endParaRPr lang="en-GB"/>
          </a:p>
        </p:txBody>
      </p:sp>
    </p:spTree>
    <p:extLst>
      <p:ext uri="{BB962C8B-B14F-4D97-AF65-F5344CB8AC3E}">
        <p14:creationId xmlns:p14="http://schemas.microsoft.com/office/powerpoint/2010/main" val="3307086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Obviously, other people also have a responsibility. What you are responsible for depends on your part in the process. e.g. the VCs responsibility is different from yours. </a:t>
            </a:r>
          </a:p>
          <a:p>
            <a:r>
              <a:rPr lang="en-GB" dirty="0"/>
              <a:t>The correct attitude and common sense are much more important than precisely how the paperwork is filled in. If you have taken all reasonable steps to make something safe that doesn’t mean a freak accident can’t happen. </a:t>
            </a:r>
          </a:p>
        </p:txBody>
      </p:sp>
      <p:sp>
        <p:nvSpPr>
          <p:cNvPr id="4" name="Slide Number Placeholder 3"/>
          <p:cNvSpPr>
            <a:spLocks noGrp="1"/>
          </p:cNvSpPr>
          <p:nvPr>
            <p:ph type="sldNum" sz="quarter" idx="5"/>
          </p:nvPr>
        </p:nvSpPr>
        <p:spPr/>
        <p:txBody>
          <a:bodyPr/>
          <a:lstStyle/>
          <a:p>
            <a:fld id="{153C36CC-C787-4AD8-867B-487E658E7736}" type="slidenum">
              <a:rPr lang="en-GB" smtClean="0"/>
              <a:t>7</a:t>
            </a:fld>
            <a:endParaRPr lang="en-GB"/>
          </a:p>
        </p:txBody>
      </p:sp>
    </p:spTree>
    <p:extLst>
      <p:ext uri="{BB962C8B-B14F-4D97-AF65-F5344CB8AC3E}">
        <p14:creationId xmlns:p14="http://schemas.microsoft.com/office/powerpoint/2010/main" val="1150437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B51F2FD-8538-4B99-86D8-3063A61FE2EE}"/>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A9FDED32-6C99-4F7A-A826-87C00AF8CAE2}"/>
              </a:ext>
            </a:extLst>
          </p:cNvPr>
          <p:cNvSpPr>
            <a:spLocks noGrp="1"/>
          </p:cNvSpPr>
          <p:nvPr>
            <p:ph type="body" idx="1"/>
          </p:nvPr>
        </p:nvSpPr>
        <p:spPr>
          <a:noFill/>
        </p:spPr>
        <p:txBody>
          <a:bodyPr/>
          <a:lstStyle/>
          <a:p>
            <a:endParaRPr lang="en-GB" altLang="en-US" baseline="0" dirty="0">
              <a:latin typeface="Arial" panose="020B0604020202020204" pitchFamily="34" charset="0"/>
              <a:cs typeface="Arial" panose="020B0604020202020204" pitchFamily="34" charset="0"/>
            </a:endParaRPr>
          </a:p>
          <a:p>
            <a:r>
              <a:rPr lang="en-GB" altLang="en-US" dirty="0">
                <a:latin typeface="Arial"/>
                <a:cs typeface="Arial"/>
              </a:rPr>
              <a:t>What is the hazard, How does harm occur &amp; who does it harm. </a:t>
            </a:r>
            <a:endParaRPr lang="en-GB" altLang="en-US" baseline="0" dirty="0">
              <a:latin typeface="Arial" panose="020B0604020202020204" pitchFamily="34" charset="0"/>
              <a:cs typeface="Arial" panose="020B0604020202020204" pitchFamily="34" charset="0"/>
            </a:endParaRPr>
          </a:p>
          <a:p>
            <a:endParaRPr lang="en-GB" altLang="en-US" dirty="0">
              <a:latin typeface="Arial" panose="020B0604020202020204" pitchFamily="34" charset="0"/>
              <a:cs typeface="Arial" panose="020B0604020202020204" pitchFamily="34" charset="0"/>
            </a:endParaRPr>
          </a:p>
          <a:p>
            <a:r>
              <a:rPr lang="en-GB" altLang="en-US" dirty="0">
                <a:latin typeface="Arial"/>
                <a:cs typeface="Arial"/>
              </a:rPr>
              <a:t>Evaluate Risk, and how to control it, </a:t>
            </a:r>
            <a:endParaRPr lang="en-GB" altLang="en-US" dirty="0">
              <a:latin typeface="Arial" panose="020B0604020202020204" pitchFamily="34" charset="0"/>
              <a:cs typeface="Arial" panose="020B0604020202020204" pitchFamily="34" charset="0"/>
            </a:endParaRPr>
          </a:p>
          <a:p>
            <a:endParaRPr lang="en-GB" altLang="en-US" dirty="0">
              <a:latin typeface="Arial"/>
              <a:cs typeface="Arial"/>
            </a:endParaRPr>
          </a:p>
          <a:p>
            <a:r>
              <a:rPr lang="en-GB" altLang="en-US" dirty="0">
                <a:latin typeface="Arial"/>
                <a:cs typeface="Arial"/>
              </a:rPr>
              <a:t>Record and review </a:t>
            </a:r>
            <a:endParaRPr lang="en-GB" altLang="en-US" dirty="0">
              <a:latin typeface="Arial" panose="020B0604020202020204" pitchFamily="34" charset="0"/>
              <a:cs typeface="Arial" panose="020B0604020202020204" pitchFamily="34" charset="0"/>
            </a:endParaRPr>
          </a:p>
          <a:p>
            <a:endParaRPr lang="en-GB" altLang="en-US" dirty="0">
              <a:latin typeface="Arial" panose="020B0604020202020204" pitchFamily="34" charset="0"/>
              <a:cs typeface="Arial" panose="020B0604020202020204" pitchFamily="34" charset="0"/>
            </a:endParaRPr>
          </a:p>
        </p:txBody>
      </p:sp>
      <p:sp>
        <p:nvSpPr>
          <p:cNvPr id="15364" name="Slide Number Placeholder 3">
            <a:extLst>
              <a:ext uri="{FF2B5EF4-FFF2-40B4-BE49-F238E27FC236}">
                <a16:creationId xmlns:a16="http://schemas.microsoft.com/office/drawing/2014/main" id="{1667D0DD-40C5-4BEC-AB4A-0E6A50852456}"/>
              </a:ext>
            </a:extLst>
          </p:cNvPr>
          <p:cNvSpPr>
            <a:spLocks noGrp="1"/>
          </p:cNvSpPr>
          <p:nvPr>
            <p:ph type="sldNum" sz="quarter" idx="5"/>
          </p:nvPr>
        </p:nvSpPr>
        <p:spPr>
          <a:noFill/>
        </p:spPr>
        <p:txBody>
          <a:bodyPr/>
          <a:lstStyle>
            <a:lvl1pPr>
              <a:defRPr sz="2400">
                <a:solidFill>
                  <a:srgbClr val="000000"/>
                </a:solidFill>
                <a:latin typeface="Lucida Sans" panose="020B0602030504020204" pitchFamily="34" charset="0"/>
                <a:ea typeface="ＭＳ Ｐゴシック" panose="020B0600070205080204" pitchFamily="34" charset="-128"/>
              </a:defRPr>
            </a:lvl1pPr>
            <a:lvl2pPr marL="742950" indent="-285750">
              <a:defRPr sz="2400">
                <a:solidFill>
                  <a:srgbClr val="000000"/>
                </a:solidFill>
                <a:latin typeface="Lucida Sans" panose="020B0602030504020204" pitchFamily="34" charset="0"/>
                <a:ea typeface="ＭＳ Ｐゴシック" panose="020B0600070205080204" pitchFamily="34" charset="-128"/>
              </a:defRPr>
            </a:lvl2pPr>
            <a:lvl3pPr marL="1143000" indent="-228600">
              <a:defRPr sz="2400">
                <a:solidFill>
                  <a:srgbClr val="000000"/>
                </a:solidFill>
                <a:latin typeface="Lucida Sans" panose="020B0602030504020204" pitchFamily="34" charset="0"/>
                <a:ea typeface="ＭＳ Ｐゴシック" panose="020B0600070205080204" pitchFamily="34" charset="-128"/>
              </a:defRPr>
            </a:lvl3pPr>
            <a:lvl4pPr marL="1600200" indent="-228600">
              <a:defRPr sz="2400">
                <a:solidFill>
                  <a:srgbClr val="000000"/>
                </a:solidFill>
                <a:latin typeface="Lucida Sans" panose="020B0602030504020204" pitchFamily="34" charset="0"/>
                <a:ea typeface="ＭＳ Ｐゴシック" panose="020B0600070205080204" pitchFamily="34" charset="-128"/>
              </a:defRPr>
            </a:lvl4pPr>
            <a:lvl5pPr marL="2057400" indent="-228600">
              <a:defRPr sz="2400">
                <a:solidFill>
                  <a:srgbClr val="000000"/>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9pPr>
          </a:lstStyle>
          <a:p>
            <a:fld id="{A00C845B-02B9-4102-AB1C-E5E996FEA993}" type="slidenum">
              <a:rPr lang="en-GB" altLang="en-US" sz="1200">
                <a:solidFill>
                  <a:schemeClr val="tx1"/>
                </a:solidFill>
                <a:latin typeface="Arial" panose="020B0604020202020204" pitchFamily="34" charset="0"/>
              </a:rPr>
              <a:pPr/>
              <a:t>9</a:t>
            </a:fld>
            <a:endParaRPr lang="en-GB" altLang="en-US" sz="1200">
              <a:solidFill>
                <a:schemeClr val="tx1"/>
              </a:solidFill>
              <a:latin typeface="Arial" panose="020B0604020202020204" pitchFamily="34" charset="0"/>
            </a:endParaRPr>
          </a:p>
        </p:txBody>
      </p:sp>
    </p:spTree>
    <p:extLst>
      <p:ext uri="{BB962C8B-B14F-4D97-AF65-F5344CB8AC3E}">
        <p14:creationId xmlns:p14="http://schemas.microsoft.com/office/powerpoint/2010/main" val="203993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B51F2FD-8538-4B99-86D8-3063A61FE2EE}"/>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A9FDED32-6C99-4F7A-A826-87C00AF8CAE2}"/>
              </a:ext>
            </a:extLst>
          </p:cNvPr>
          <p:cNvSpPr>
            <a:spLocks noGrp="1"/>
          </p:cNvSpPr>
          <p:nvPr>
            <p:ph type="body" idx="1"/>
          </p:nvPr>
        </p:nvSpPr>
        <p:spPr>
          <a:noFill/>
        </p:spPr>
        <p:txBody>
          <a:bodyPr/>
          <a:lstStyle/>
          <a:p>
            <a:r>
              <a:rPr lang="en-GB" altLang="en-US" dirty="0">
                <a:latin typeface="Arial"/>
                <a:cs typeface="Arial"/>
              </a:rPr>
              <a:t>A laser is a hazard - A</a:t>
            </a:r>
            <a:r>
              <a:rPr lang="en-GB" altLang="en-US" baseline="0" dirty="0">
                <a:latin typeface="Arial"/>
                <a:cs typeface="Arial"/>
              </a:rPr>
              <a:t> laser contacting a persons skin is the hazard </a:t>
            </a:r>
            <a:r>
              <a:rPr lang="en-GB" altLang="en-US" dirty="0">
                <a:latin typeface="Arial"/>
                <a:cs typeface="Arial"/>
              </a:rPr>
              <a:t>event - A</a:t>
            </a:r>
            <a:r>
              <a:rPr lang="en-GB" altLang="en-US" baseline="0" dirty="0">
                <a:latin typeface="Arial"/>
                <a:cs typeface="Arial"/>
              </a:rPr>
              <a:t> burn is the hazard consequence</a:t>
            </a:r>
          </a:p>
          <a:p>
            <a:endParaRPr lang="en-GB" altLang="en-US" dirty="0">
              <a:latin typeface="Arial"/>
              <a:cs typeface="Arial"/>
            </a:endParaRPr>
          </a:p>
          <a:p>
            <a:endParaRPr lang="en-GB" altLang="en-US" dirty="0">
              <a:latin typeface="Arial"/>
              <a:cs typeface="Arial"/>
            </a:endParaRPr>
          </a:p>
        </p:txBody>
      </p:sp>
      <p:sp>
        <p:nvSpPr>
          <p:cNvPr id="15364" name="Slide Number Placeholder 3">
            <a:extLst>
              <a:ext uri="{FF2B5EF4-FFF2-40B4-BE49-F238E27FC236}">
                <a16:creationId xmlns:a16="http://schemas.microsoft.com/office/drawing/2014/main" id="{1667D0DD-40C5-4BEC-AB4A-0E6A50852456}"/>
              </a:ext>
            </a:extLst>
          </p:cNvPr>
          <p:cNvSpPr>
            <a:spLocks noGrp="1"/>
          </p:cNvSpPr>
          <p:nvPr>
            <p:ph type="sldNum" sz="quarter" idx="5"/>
          </p:nvPr>
        </p:nvSpPr>
        <p:spPr>
          <a:noFill/>
        </p:spPr>
        <p:txBody>
          <a:bodyPr/>
          <a:lstStyle>
            <a:lvl1pPr>
              <a:defRPr sz="2400">
                <a:solidFill>
                  <a:srgbClr val="000000"/>
                </a:solidFill>
                <a:latin typeface="Lucida Sans" panose="020B0602030504020204" pitchFamily="34" charset="0"/>
                <a:ea typeface="ＭＳ Ｐゴシック" panose="020B0600070205080204" pitchFamily="34" charset="-128"/>
              </a:defRPr>
            </a:lvl1pPr>
            <a:lvl2pPr marL="742950" indent="-285750">
              <a:defRPr sz="2400">
                <a:solidFill>
                  <a:srgbClr val="000000"/>
                </a:solidFill>
                <a:latin typeface="Lucida Sans" panose="020B0602030504020204" pitchFamily="34" charset="0"/>
                <a:ea typeface="ＭＳ Ｐゴシック" panose="020B0600070205080204" pitchFamily="34" charset="-128"/>
              </a:defRPr>
            </a:lvl2pPr>
            <a:lvl3pPr marL="1143000" indent="-228600">
              <a:defRPr sz="2400">
                <a:solidFill>
                  <a:srgbClr val="000000"/>
                </a:solidFill>
                <a:latin typeface="Lucida Sans" panose="020B0602030504020204" pitchFamily="34" charset="0"/>
                <a:ea typeface="ＭＳ Ｐゴシック" panose="020B0600070205080204" pitchFamily="34" charset="-128"/>
              </a:defRPr>
            </a:lvl3pPr>
            <a:lvl4pPr marL="1600200" indent="-228600">
              <a:defRPr sz="2400">
                <a:solidFill>
                  <a:srgbClr val="000000"/>
                </a:solidFill>
                <a:latin typeface="Lucida Sans" panose="020B0602030504020204" pitchFamily="34" charset="0"/>
                <a:ea typeface="ＭＳ Ｐゴシック" panose="020B0600070205080204" pitchFamily="34" charset="-128"/>
              </a:defRPr>
            </a:lvl4pPr>
            <a:lvl5pPr marL="2057400" indent="-228600">
              <a:defRPr sz="2400">
                <a:solidFill>
                  <a:srgbClr val="000000"/>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9pPr>
          </a:lstStyle>
          <a:p>
            <a:fld id="{A00C845B-02B9-4102-AB1C-E5E996FEA993}" type="slidenum">
              <a:rPr lang="en-GB" altLang="en-US" sz="1200">
                <a:solidFill>
                  <a:schemeClr val="tx1"/>
                </a:solidFill>
                <a:latin typeface="Arial" panose="020B0604020202020204" pitchFamily="34" charset="0"/>
              </a:rPr>
              <a:pPr/>
              <a:t>10</a:t>
            </a:fld>
            <a:endParaRPr lang="en-GB" altLang="en-US" sz="1200">
              <a:solidFill>
                <a:schemeClr val="tx1"/>
              </a:solidFill>
              <a:latin typeface="Arial" panose="020B0604020202020204" pitchFamily="34" charset="0"/>
            </a:endParaRPr>
          </a:p>
        </p:txBody>
      </p:sp>
    </p:spTree>
    <p:extLst>
      <p:ext uri="{BB962C8B-B14F-4D97-AF65-F5344CB8AC3E}">
        <p14:creationId xmlns:p14="http://schemas.microsoft.com/office/powerpoint/2010/main" val="3738172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B51F2FD-8538-4B99-86D8-3063A61FE2EE}"/>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A9FDED32-6C99-4F7A-A826-87C00AF8CAE2}"/>
              </a:ext>
            </a:extLst>
          </p:cNvPr>
          <p:cNvSpPr>
            <a:spLocks noGrp="1"/>
          </p:cNvSpPr>
          <p:nvPr>
            <p:ph type="body" idx="1"/>
          </p:nvPr>
        </p:nvSpPr>
        <p:spPr>
          <a:noFill/>
        </p:spPr>
        <p:txBody>
          <a:bodyPr/>
          <a:lstStyle/>
          <a:p>
            <a:endParaRPr lang="en-GB" altLang="en-US" baseline="0" dirty="0">
              <a:latin typeface="Arial" panose="020B0604020202020204" pitchFamily="34" charset="0"/>
              <a:cs typeface="Arial" panose="020B0604020202020204" pitchFamily="34" charset="0"/>
            </a:endParaRPr>
          </a:p>
          <a:p>
            <a:endParaRPr lang="en-GB" altLang="en-US" baseline="0" dirty="0">
              <a:latin typeface="Arial" panose="020B0604020202020204" pitchFamily="34" charset="0"/>
              <a:cs typeface="Arial" panose="020B0604020202020204" pitchFamily="34" charset="0"/>
            </a:endParaRPr>
          </a:p>
          <a:p>
            <a:endParaRPr lang="en-GB" altLang="en-US" dirty="0">
              <a:latin typeface="Arial" panose="020B0604020202020204" pitchFamily="34" charset="0"/>
              <a:cs typeface="Arial" panose="020B0604020202020204" pitchFamily="34" charset="0"/>
            </a:endParaRPr>
          </a:p>
        </p:txBody>
      </p:sp>
      <p:sp>
        <p:nvSpPr>
          <p:cNvPr id="15364" name="Slide Number Placeholder 3">
            <a:extLst>
              <a:ext uri="{FF2B5EF4-FFF2-40B4-BE49-F238E27FC236}">
                <a16:creationId xmlns:a16="http://schemas.microsoft.com/office/drawing/2014/main" id="{1667D0DD-40C5-4BEC-AB4A-0E6A50852456}"/>
              </a:ext>
            </a:extLst>
          </p:cNvPr>
          <p:cNvSpPr>
            <a:spLocks noGrp="1"/>
          </p:cNvSpPr>
          <p:nvPr>
            <p:ph type="sldNum" sz="quarter" idx="5"/>
          </p:nvPr>
        </p:nvSpPr>
        <p:spPr>
          <a:noFill/>
        </p:spPr>
        <p:txBody>
          <a:bodyPr/>
          <a:lstStyle>
            <a:lvl1pPr>
              <a:defRPr sz="2400">
                <a:solidFill>
                  <a:srgbClr val="000000"/>
                </a:solidFill>
                <a:latin typeface="Lucida Sans" panose="020B0602030504020204" pitchFamily="34" charset="0"/>
                <a:ea typeface="ＭＳ Ｐゴシック" panose="020B0600070205080204" pitchFamily="34" charset="-128"/>
              </a:defRPr>
            </a:lvl1pPr>
            <a:lvl2pPr marL="742950" indent="-285750">
              <a:defRPr sz="2400">
                <a:solidFill>
                  <a:srgbClr val="000000"/>
                </a:solidFill>
                <a:latin typeface="Lucida Sans" panose="020B0602030504020204" pitchFamily="34" charset="0"/>
                <a:ea typeface="ＭＳ Ｐゴシック" panose="020B0600070205080204" pitchFamily="34" charset="-128"/>
              </a:defRPr>
            </a:lvl2pPr>
            <a:lvl3pPr marL="1143000" indent="-228600">
              <a:defRPr sz="2400">
                <a:solidFill>
                  <a:srgbClr val="000000"/>
                </a:solidFill>
                <a:latin typeface="Lucida Sans" panose="020B0602030504020204" pitchFamily="34" charset="0"/>
                <a:ea typeface="ＭＳ Ｐゴシック" panose="020B0600070205080204" pitchFamily="34" charset="-128"/>
              </a:defRPr>
            </a:lvl3pPr>
            <a:lvl4pPr marL="1600200" indent="-228600">
              <a:defRPr sz="2400">
                <a:solidFill>
                  <a:srgbClr val="000000"/>
                </a:solidFill>
                <a:latin typeface="Lucida Sans" panose="020B0602030504020204" pitchFamily="34" charset="0"/>
                <a:ea typeface="ＭＳ Ｐゴシック" panose="020B0600070205080204" pitchFamily="34" charset="-128"/>
              </a:defRPr>
            </a:lvl4pPr>
            <a:lvl5pPr marL="2057400" indent="-228600">
              <a:defRPr sz="2400">
                <a:solidFill>
                  <a:srgbClr val="000000"/>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9pPr>
          </a:lstStyle>
          <a:p>
            <a:fld id="{A00C845B-02B9-4102-AB1C-E5E996FEA993}" type="slidenum">
              <a:rPr lang="en-GB" altLang="en-US" sz="1200">
                <a:solidFill>
                  <a:schemeClr val="tx1"/>
                </a:solidFill>
                <a:latin typeface="Arial" panose="020B0604020202020204" pitchFamily="34" charset="0"/>
              </a:rPr>
              <a:pPr/>
              <a:t>11</a:t>
            </a:fld>
            <a:endParaRPr lang="en-GB" altLang="en-US" sz="1200">
              <a:solidFill>
                <a:schemeClr val="tx1"/>
              </a:solidFill>
              <a:latin typeface="Arial" panose="020B0604020202020204" pitchFamily="34" charset="0"/>
            </a:endParaRPr>
          </a:p>
        </p:txBody>
      </p:sp>
    </p:spTree>
    <p:extLst>
      <p:ext uri="{BB962C8B-B14F-4D97-AF65-F5344CB8AC3E}">
        <p14:creationId xmlns:p14="http://schemas.microsoft.com/office/powerpoint/2010/main" val="2033880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B51F2FD-8538-4B99-86D8-3063A61FE2EE}"/>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A9FDED32-6C99-4F7A-A826-87C00AF8CAE2}"/>
              </a:ext>
            </a:extLst>
          </p:cNvPr>
          <p:cNvSpPr>
            <a:spLocks noGrp="1"/>
          </p:cNvSpPr>
          <p:nvPr>
            <p:ph type="body" idx="1"/>
          </p:nvPr>
        </p:nvSpPr>
        <p:spPr>
          <a:noFill/>
        </p:spPr>
        <p:txBody>
          <a:bodyPr/>
          <a:lstStyle/>
          <a:p>
            <a:r>
              <a:rPr lang="en-GB" altLang="en-US" baseline="0" dirty="0">
                <a:latin typeface="Arial" panose="020B0604020202020204" pitchFamily="34" charset="0"/>
                <a:cs typeface="Arial" panose="020B0604020202020204" pitchFamily="34" charset="0"/>
              </a:rPr>
              <a:t>Risk is an exposure to danger</a:t>
            </a:r>
          </a:p>
          <a:p>
            <a:r>
              <a:rPr lang="en-GB" altLang="en-US" baseline="0" dirty="0">
                <a:latin typeface="Arial" panose="020B0604020202020204" pitchFamily="34" charset="0"/>
                <a:cs typeface="Arial" panose="020B0604020202020204" pitchFamily="34" charset="0"/>
              </a:rPr>
              <a:t>likelihood of that exposure</a:t>
            </a:r>
          </a:p>
          <a:p>
            <a:r>
              <a:rPr lang="en-GB" altLang="en-US" baseline="0" dirty="0">
                <a:latin typeface="Arial" panose="020B0604020202020204" pitchFamily="34" charset="0"/>
                <a:cs typeface="Arial" panose="020B0604020202020204" pitchFamily="34" charset="0"/>
              </a:rPr>
              <a:t>multiplied by the impact of that exposure</a:t>
            </a:r>
          </a:p>
          <a:p>
            <a:endParaRPr lang="en-GB" altLang="en-US" baseline="0" dirty="0">
              <a:latin typeface="Arial" panose="020B0604020202020204" pitchFamily="34" charset="0"/>
              <a:cs typeface="Arial" panose="020B0604020202020204" pitchFamily="34" charset="0"/>
            </a:endParaRPr>
          </a:p>
          <a:p>
            <a:endParaRPr lang="en-GB" altLang="en-US" baseline="0" dirty="0">
              <a:latin typeface="Arial" panose="020B0604020202020204" pitchFamily="34" charset="0"/>
              <a:cs typeface="Arial" panose="020B0604020202020204" pitchFamily="34" charset="0"/>
            </a:endParaRPr>
          </a:p>
          <a:p>
            <a:endParaRPr lang="en-GB" altLang="en-US" dirty="0">
              <a:latin typeface="Arial" panose="020B0604020202020204" pitchFamily="34" charset="0"/>
              <a:cs typeface="Arial" panose="020B0604020202020204" pitchFamily="34" charset="0"/>
            </a:endParaRPr>
          </a:p>
        </p:txBody>
      </p:sp>
      <p:sp>
        <p:nvSpPr>
          <p:cNvPr id="15364" name="Slide Number Placeholder 3">
            <a:extLst>
              <a:ext uri="{FF2B5EF4-FFF2-40B4-BE49-F238E27FC236}">
                <a16:creationId xmlns:a16="http://schemas.microsoft.com/office/drawing/2014/main" id="{1667D0DD-40C5-4BEC-AB4A-0E6A50852456}"/>
              </a:ext>
            </a:extLst>
          </p:cNvPr>
          <p:cNvSpPr>
            <a:spLocks noGrp="1"/>
          </p:cNvSpPr>
          <p:nvPr>
            <p:ph type="sldNum" sz="quarter" idx="5"/>
          </p:nvPr>
        </p:nvSpPr>
        <p:spPr>
          <a:noFill/>
        </p:spPr>
        <p:txBody>
          <a:bodyPr/>
          <a:lstStyle>
            <a:lvl1pPr>
              <a:defRPr sz="2400">
                <a:solidFill>
                  <a:srgbClr val="000000"/>
                </a:solidFill>
                <a:latin typeface="Lucida Sans" panose="020B0602030504020204" pitchFamily="34" charset="0"/>
                <a:ea typeface="ＭＳ Ｐゴシック" panose="020B0600070205080204" pitchFamily="34" charset="-128"/>
              </a:defRPr>
            </a:lvl1pPr>
            <a:lvl2pPr marL="742950" indent="-285750">
              <a:defRPr sz="2400">
                <a:solidFill>
                  <a:srgbClr val="000000"/>
                </a:solidFill>
                <a:latin typeface="Lucida Sans" panose="020B0602030504020204" pitchFamily="34" charset="0"/>
                <a:ea typeface="ＭＳ Ｐゴシック" panose="020B0600070205080204" pitchFamily="34" charset="-128"/>
              </a:defRPr>
            </a:lvl2pPr>
            <a:lvl3pPr marL="1143000" indent="-228600">
              <a:defRPr sz="2400">
                <a:solidFill>
                  <a:srgbClr val="000000"/>
                </a:solidFill>
                <a:latin typeface="Lucida Sans" panose="020B0602030504020204" pitchFamily="34" charset="0"/>
                <a:ea typeface="ＭＳ Ｐゴシック" panose="020B0600070205080204" pitchFamily="34" charset="-128"/>
              </a:defRPr>
            </a:lvl3pPr>
            <a:lvl4pPr marL="1600200" indent="-228600">
              <a:defRPr sz="2400">
                <a:solidFill>
                  <a:srgbClr val="000000"/>
                </a:solidFill>
                <a:latin typeface="Lucida Sans" panose="020B0602030504020204" pitchFamily="34" charset="0"/>
                <a:ea typeface="ＭＳ Ｐゴシック" panose="020B0600070205080204" pitchFamily="34" charset="-128"/>
              </a:defRPr>
            </a:lvl4pPr>
            <a:lvl5pPr marL="2057400" indent="-228600">
              <a:defRPr sz="2400">
                <a:solidFill>
                  <a:srgbClr val="000000"/>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9pPr>
          </a:lstStyle>
          <a:p>
            <a:fld id="{A00C845B-02B9-4102-AB1C-E5E996FEA993}" type="slidenum">
              <a:rPr lang="en-GB" altLang="en-US" sz="1200">
                <a:solidFill>
                  <a:schemeClr val="tx1"/>
                </a:solidFill>
                <a:latin typeface="Arial" panose="020B0604020202020204" pitchFamily="34" charset="0"/>
              </a:rPr>
              <a:pPr/>
              <a:t>12</a:t>
            </a:fld>
            <a:endParaRPr lang="en-GB" altLang="en-US" sz="1200">
              <a:solidFill>
                <a:schemeClr val="tx1"/>
              </a:solidFill>
              <a:latin typeface="Arial" panose="020B0604020202020204" pitchFamily="34" charset="0"/>
            </a:endParaRPr>
          </a:p>
        </p:txBody>
      </p:sp>
    </p:spTree>
    <p:extLst>
      <p:ext uri="{BB962C8B-B14F-4D97-AF65-F5344CB8AC3E}">
        <p14:creationId xmlns:p14="http://schemas.microsoft.com/office/powerpoint/2010/main" val="2497106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B51F2FD-8538-4B99-86D8-3063A61FE2EE}"/>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A9FDED32-6C99-4F7A-A826-87C00AF8CAE2}"/>
              </a:ext>
            </a:extLst>
          </p:cNvPr>
          <p:cNvSpPr>
            <a:spLocks noGrp="1"/>
          </p:cNvSpPr>
          <p:nvPr>
            <p:ph type="body" idx="1"/>
          </p:nvPr>
        </p:nvSpPr>
        <p:spPr>
          <a:noFill/>
        </p:spPr>
        <p:txBody>
          <a:bodyPr/>
          <a:lstStyle/>
          <a:p>
            <a:r>
              <a:rPr lang="en-GB" altLang="en-US" dirty="0">
                <a:latin typeface="Arial" panose="020B0604020202020204" pitchFamily="34" charset="0"/>
                <a:cs typeface="Arial" panose="020B0604020202020204" pitchFamily="34" charset="0"/>
              </a:rPr>
              <a:t>Emergency</a:t>
            </a:r>
            <a:r>
              <a:rPr lang="en-GB" altLang="en-US" baseline="0" dirty="0">
                <a:latin typeface="Arial" panose="020B0604020202020204" pitchFamily="34" charset="0"/>
                <a:cs typeface="Arial" panose="020B0604020202020204" pitchFamily="34" charset="0"/>
              </a:rPr>
              <a:t> contact: </a:t>
            </a:r>
          </a:p>
          <a:p>
            <a:endParaRPr lang="en-GB" altLang="en-US" baseline="0" dirty="0">
              <a:latin typeface="Arial" panose="020B0604020202020204" pitchFamily="34" charset="0"/>
              <a:cs typeface="Arial" panose="020B0604020202020204" pitchFamily="34" charset="0"/>
            </a:endParaRPr>
          </a:p>
          <a:p>
            <a:r>
              <a:rPr lang="en-GB" altLang="en-US" baseline="0" dirty="0">
                <a:latin typeface="Arial" panose="020B0604020202020204" pitchFamily="34" charset="0"/>
                <a:cs typeface="Arial" panose="020B0604020202020204" pitchFamily="34" charset="0"/>
              </a:rPr>
              <a:t>For any emergency at the university call university security.  3311 from any university phone or +4423 8059 3311 form a mobile.  Please take a minute to put this in your phone.  </a:t>
            </a:r>
          </a:p>
          <a:p>
            <a:endParaRPr lang="en-GB" altLang="en-US" baseline="0"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Any time you require any of the emergency services please make sure you use the University emergency number 3311. This is really important. IF you decide to dial the national UK emergency number 999 you will get through to the national switchboard and although they may know where Southampton University campus is, they have no idea where you might be on the campus! We have had ambulance drive round for 20 minutes trying to find a building.</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If you dial 3311 from any University phone you get through to the local emergency switch board, this is run exactly the same as any emergency switch board, the call will be answered within 3 rings, all staff are trained and will put into place the University Emergency action plan. This will consist of giving you all the assistance you need and ensuring the emergency services find you as quickly as possible. Local security will also react and be with you in the shortest time possible to give whatever assistance they can.</a:t>
            </a:r>
          </a:p>
          <a:p>
            <a:r>
              <a:rPr lang="en-US" altLang="en-US" dirty="0">
                <a:latin typeface="Arial" panose="020B0604020202020204" pitchFamily="34" charset="0"/>
                <a:cs typeface="Arial" panose="020B0604020202020204" pitchFamily="34" charset="0"/>
              </a:rPr>
              <a:t>It is an invaluable service that works really well and should be used every time there is an emergency.</a:t>
            </a:r>
          </a:p>
          <a:p>
            <a:endParaRPr lang="en-GB" altLang="en-US" baseline="0" dirty="0">
              <a:latin typeface="Arial" panose="020B0604020202020204" pitchFamily="34" charset="0"/>
              <a:cs typeface="Arial" panose="020B0604020202020204" pitchFamily="34" charset="0"/>
            </a:endParaRPr>
          </a:p>
          <a:p>
            <a:endParaRPr lang="en-GB" altLang="en-US" baseline="0" dirty="0">
              <a:latin typeface="Arial" panose="020B0604020202020204" pitchFamily="34" charset="0"/>
              <a:cs typeface="Arial" panose="020B0604020202020204" pitchFamily="34" charset="0"/>
            </a:endParaRPr>
          </a:p>
          <a:p>
            <a:endParaRPr lang="en-GB" altLang="en-US" dirty="0">
              <a:latin typeface="Arial" panose="020B0604020202020204" pitchFamily="34" charset="0"/>
              <a:cs typeface="Arial" panose="020B0604020202020204" pitchFamily="34" charset="0"/>
            </a:endParaRPr>
          </a:p>
        </p:txBody>
      </p:sp>
      <p:sp>
        <p:nvSpPr>
          <p:cNvPr id="15364" name="Slide Number Placeholder 3">
            <a:extLst>
              <a:ext uri="{FF2B5EF4-FFF2-40B4-BE49-F238E27FC236}">
                <a16:creationId xmlns:a16="http://schemas.microsoft.com/office/drawing/2014/main" id="{1667D0DD-40C5-4BEC-AB4A-0E6A50852456}"/>
              </a:ext>
            </a:extLst>
          </p:cNvPr>
          <p:cNvSpPr>
            <a:spLocks noGrp="1"/>
          </p:cNvSpPr>
          <p:nvPr>
            <p:ph type="sldNum" sz="quarter" idx="5"/>
          </p:nvPr>
        </p:nvSpPr>
        <p:spPr>
          <a:noFill/>
        </p:spPr>
        <p:txBody>
          <a:bodyPr/>
          <a:lstStyle>
            <a:lvl1pPr>
              <a:defRPr sz="2400">
                <a:solidFill>
                  <a:srgbClr val="000000"/>
                </a:solidFill>
                <a:latin typeface="Lucida Sans" panose="020B0602030504020204" pitchFamily="34" charset="0"/>
                <a:ea typeface="ＭＳ Ｐゴシック" panose="020B0600070205080204" pitchFamily="34" charset="-128"/>
              </a:defRPr>
            </a:lvl1pPr>
            <a:lvl2pPr marL="742950" indent="-285750">
              <a:defRPr sz="2400">
                <a:solidFill>
                  <a:srgbClr val="000000"/>
                </a:solidFill>
                <a:latin typeface="Lucida Sans" panose="020B0602030504020204" pitchFamily="34" charset="0"/>
                <a:ea typeface="ＭＳ Ｐゴシック" panose="020B0600070205080204" pitchFamily="34" charset="-128"/>
              </a:defRPr>
            </a:lvl2pPr>
            <a:lvl3pPr marL="1143000" indent="-228600">
              <a:defRPr sz="2400">
                <a:solidFill>
                  <a:srgbClr val="000000"/>
                </a:solidFill>
                <a:latin typeface="Lucida Sans" panose="020B0602030504020204" pitchFamily="34" charset="0"/>
                <a:ea typeface="ＭＳ Ｐゴシック" panose="020B0600070205080204" pitchFamily="34" charset="-128"/>
              </a:defRPr>
            </a:lvl3pPr>
            <a:lvl4pPr marL="1600200" indent="-228600">
              <a:defRPr sz="2400">
                <a:solidFill>
                  <a:srgbClr val="000000"/>
                </a:solidFill>
                <a:latin typeface="Lucida Sans" panose="020B0602030504020204" pitchFamily="34" charset="0"/>
                <a:ea typeface="ＭＳ Ｐゴシック" panose="020B0600070205080204" pitchFamily="34" charset="-128"/>
              </a:defRPr>
            </a:lvl4pPr>
            <a:lvl5pPr marL="2057400" indent="-228600">
              <a:defRPr sz="2400">
                <a:solidFill>
                  <a:srgbClr val="000000"/>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9pPr>
          </a:lstStyle>
          <a:p>
            <a:fld id="{A00C845B-02B9-4102-AB1C-E5E996FEA993}" type="slidenum">
              <a:rPr lang="en-GB" altLang="en-US" sz="1200">
                <a:solidFill>
                  <a:schemeClr val="tx1"/>
                </a:solidFill>
                <a:latin typeface="Arial" panose="020B0604020202020204" pitchFamily="34" charset="0"/>
              </a:rPr>
              <a:pPr/>
              <a:t>13</a:t>
            </a:fld>
            <a:endParaRPr lang="en-GB" altLang="en-US" sz="1200">
              <a:solidFill>
                <a:schemeClr val="tx1"/>
              </a:solidFill>
              <a:latin typeface="Arial" panose="020B0604020202020204" pitchFamily="34" charset="0"/>
            </a:endParaRPr>
          </a:p>
        </p:txBody>
      </p:sp>
    </p:spTree>
    <p:extLst>
      <p:ext uri="{BB962C8B-B14F-4D97-AF65-F5344CB8AC3E}">
        <p14:creationId xmlns:p14="http://schemas.microsoft.com/office/powerpoint/2010/main" val="625477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Crossing the road</a:t>
            </a:r>
          </a:p>
          <a:p>
            <a:r>
              <a:rPr lang="en-GB" dirty="0"/>
              <a:t>Bridges</a:t>
            </a:r>
          </a:p>
          <a:p>
            <a:r>
              <a:rPr lang="en-GB" dirty="0"/>
              <a:t>Pedestrian crossings</a:t>
            </a:r>
          </a:p>
          <a:p>
            <a:r>
              <a:rPr lang="en-GB" dirty="0"/>
              <a:t>Lighting</a:t>
            </a:r>
          </a:p>
          <a:p>
            <a:r>
              <a:rPr lang="en-GB" dirty="0"/>
              <a:t>Crumple zones. </a:t>
            </a:r>
          </a:p>
          <a:p>
            <a:r>
              <a:rPr lang="en-GB" dirty="0"/>
              <a:t>Air bags</a:t>
            </a:r>
          </a:p>
          <a:p>
            <a:r>
              <a:rPr lang="en-GB" dirty="0"/>
              <a:t>Training</a:t>
            </a:r>
          </a:p>
          <a:p>
            <a:r>
              <a:rPr lang="en-GB" dirty="0"/>
              <a:t>Helmets</a:t>
            </a:r>
          </a:p>
          <a:p>
            <a:endParaRPr lang="en-GB" dirty="0"/>
          </a:p>
        </p:txBody>
      </p:sp>
      <p:sp>
        <p:nvSpPr>
          <p:cNvPr id="4" name="Slide Number Placeholder 3"/>
          <p:cNvSpPr>
            <a:spLocks noGrp="1"/>
          </p:cNvSpPr>
          <p:nvPr>
            <p:ph type="sldNum" sz="quarter" idx="5"/>
          </p:nvPr>
        </p:nvSpPr>
        <p:spPr/>
        <p:txBody>
          <a:bodyPr/>
          <a:lstStyle/>
          <a:p>
            <a:fld id="{153C36CC-C787-4AD8-867B-487E658E7736}" type="slidenum">
              <a:rPr lang="en-GB" smtClean="0"/>
              <a:t>14</a:t>
            </a:fld>
            <a:endParaRPr lang="en-GB"/>
          </a:p>
        </p:txBody>
      </p:sp>
    </p:spTree>
    <p:extLst>
      <p:ext uri="{BB962C8B-B14F-4D97-AF65-F5344CB8AC3E}">
        <p14:creationId xmlns:p14="http://schemas.microsoft.com/office/powerpoint/2010/main" val="1157996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is the activity we are assessing? Doesn’t have to be on one piece of paper. Different aspects could be on different forms. Being in a lab. Doing a specific thing in a lab for instance could be different forms. General risk assessment of a process could be modified or added to for a specific instance. </a:t>
            </a:r>
          </a:p>
        </p:txBody>
      </p:sp>
      <p:sp>
        <p:nvSpPr>
          <p:cNvPr id="4" name="Slide Number Placeholder 3"/>
          <p:cNvSpPr>
            <a:spLocks noGrp="1"/>
          </p:cNvSpPr>
          <p:nvPr>
            <p:ph type="sldNum" sz="quarter" idx="5"/>
          </p:nvPr>
        </p:nvSpPr>
        <p:spPr/>
        <p:txBody>
          <a:bodyPr/>
          <a:lstStyle/>
          <a:p>
            <a:fld id="{153C36CC-C787-4AD8-867B-487E658E7736}" type="slidenum">
              <a:rPr lang="en-GB" smtClean="0"/>
              <a:t>15</a:t>
            </a:fld>
            <a:endParaRPr lang="en-GB"/>
          </a:p>
        </p:txBody>
      </p:sp>
    </p:spTree>
    <p:extLst>
      <p:ext uri="{BB962C8B-B14F-4D97-AF65-F5344CB8AC3E}">
        <p14:creationId xmlns:p14="http://schemas.microsoft.com/office/powerpoint/2010/main" val="3500075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B51F2FD-8538-4B99-86D8-3063A61FE2EE}"/>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A9FDED32-6C99-4F7A-A826-87C00AF8CAE2}"/>
              </a:ext>
            </a:extLst>
          </p:cNvPr>
          <p:cNvSpPr>
            <a:spLocks noGrp="1"/>
          </p:cNvSpPr>
          <p:nvPr>
            <p:ph type="body" idx="1"/>
          </p:nvPr>
        </p:nvSpPr>
        <p:spPr>
          <a:noFill/>
        </p:spPr>
        <p:txBody>
          <a:bodyPr/>
          <a:lstStyle/>
          <a:p>
            <a:endParaRPr lang="en-GB" altLang="en-US" baseline="0" dirty="0">
              <a:latin typeface="Arial" panose="020B0604020202020204" pitchFamily="34" charset="0"/>
              <a:cs typeface="Arial" panose="020B0604020202020204" pitchFamily="34" charset="0"/>
            </a:endParaRPr>
          </a:p>
          <a:p>
            <a:endParaRPr lang="en-GB" altLang="en-US" baseline="0" dirty="0">
              <a:latin typeface="Arial" panose="020B0604020202020204" pitchFamily="34" charset="0"/>
              <a:cs typeface="Arial" panose="020B0604020202020204" pitchFamily="34" charset="0"/>
            </a:endParaRPr>
          </a:p>
          <a:p>
            <a:endParaRPr lang="en-GB" altLang="en-US" dirty="0">
              <a:latin typeface="Arial" panose="020B0604020202020204" pitchFamily="34" charset="0"/>
              <a:cs typeface="Arial" panose="020B0604020202020204" pitchFamily="34" charset="0"/>
            </a:endParaRPr>
          </a:p>
        </p:txBody>
      </p:sp>
      <p:sp>
        <p:nvSpPr>
          <p:cNvPr id="15364" name="Slide Number Placeholder 3">
            <a:extLst>
              <a:ext uri="{FF2B5EF4-FFF2-40B4-BE49-F238E27FC236}">
                <a16:creationId xmlns:a16="http://schemas.microsoft.com/office/drawing/2014/main" id="{1667D0DD-40C5-4BEC-AB4A-0E6A50852456}"/>
              </a:ext>
            </a:extLst>
          </p:cNvPr>
          <p:cNvSpPr>
            <a:spLocks noGrp="1"/>
          </p:cNvSpPr>
          <p:nvPr>
            <p:ph type="sldNum" sz="quarter" idx="5"/>
          </p:nvPr>
        </p:nvSpPr>
        <p:spPr>
          <a:noFill/>
        </p:spPr>
        <p:txBody>
          <a:bodyPr/>
          <a:lstStyle>
            <a:lvl1pPr>
              <a:defRPr sz="2400">
                <a:solidFill>
                  <a:srgbClr val="000000"/>
                </a:solidFill>
                <a:latin typeface="Lucida Sans" panose="020B0602030504020204" pitchFamily="34" charset="0"/>
                <a:ea typeface="ＭＳ Ｐゴシック" panose="020B0600070205080204" pitchFamily="34" charset="-128"/>
              </a:defRPr>
            </a:lvl1pPr>
            <a:lvl2pPr marL="742950" indent="-285750">
              <a:defRPr sz="2400">
                <a:solidFill>
                  <a:srgbClr val="000000"/>
                </a:solidFill>
                <a:latin typeface="Lucida Sans" panose="020B0602030504020204" pitchFamily="34" charset="0"/>
                <a:ea typeface="ＭＳ Ｐゴシック" panose="020B0600070205080204" pitchFamily="34" charset="-128"/>
              </a:defRPr>
            </a:lvl2pPr>
            <a:lvl3pPr marL="1143000" indent="-228600">
              <a:defRPr sz="2400">
                <a:solidFill>
                  <a:srgbClr val="000000"/>
                </a:solidFill>
                <a:latin typeface="Lucida Sans" panose="020B0602030504020204" pitchFamily="34" charset="0"/>
                <a:ea typeface="ＭＳ Ｐゴシック" panose="020B0600070205080204" pitchFamily="34" charset="-128"/>
              </a:defRPr>
            </a:lvl3pPr>
            <a:lvl4pPr marL="1600200" indent="-228600">
              <a:defRPr sz="2400">
                <a:solidFill>
                  <a:srgbClr val="000000"/>
                </a:solidFill>
                <a:latin typeface="Lucida Sans" panose="020B0602030504020204" pitchFamily="34" charset="0"/>
                <a:ea typeface="ＭＳ Ｐゴシック" panose="020B0600070205080204" pitchFamily="34" charset="-128"/>
              </a:defRPr>
            </a:lvl4pPr>
            <a:lvl5pPr marL="2057400" indent="-228600">
              <a:defRPr sz="2400">
                <a:solidFill>
                  <a:srgbClr val="000000"/>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9pPr>
          </a:lstStyle>
          <a:p>
            <a:fld id="{A00C845B-02B9-4102-AB1C-E5E996FEA993}" type="slidenum">
              <a:rPr lang="en-GB" altLang="en-US" sz="1200">
                <a:solidFill>
                  <a:schemeClr val="tx1"/>
                </a:solidFill>
                <a:latin typeface="Arial" panose="020B0604020202020204" pitchFamily="34" charset="0"/>
              </a:rPr>
              <a:pPr/>
              <a:t>17</a:t>
            </a:fld>
            <a:endParaRPr lang="en-GB" altLang="en-US" sz="1200">
              <a:solidFill>
                <a:schemeClr val="tx1"/>
              </a:solidFill>
              <a:latin typeface="Arial" panose="020B0604020202020204" pitchFamily="34" charset="0"/>
            </a:endParaRPr>
          </a:p>
        </p:txBody>
      </p:sp>
    </p:spTree>
    <p:extLst>
      <p:ext uri="{BB962C8B-B14F-4D97-AF65-F5344CB8AC3E}">
        <p14:creationId xmlns:p14="http://schemas.microsoft.com/office/powerpoint/2010/main" val="3764644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 mechanism for reporting. </a:t>
            </a:r>
          </a:p>
        </p:txBody>
      </p:sp>
      <p:sp>
        <p:nvSpPr>
          <p:cNvPr id="4" name="Slide Number Placeholder 3"/>
          <p:cNvSpPr>
            <a:spLocks noGrp="1"/>
          </p:cNvSpPr>
          <p:nvPr>
            <p:ph type="sldNum" sz="quarter" idx="5"/>
          </p:nvPr>
        </p:nvSpPr>
        <p:spPr/>
        <p:txBody>
          <a:bodyPr/>
          <a:lstStyle/>
          <a:p>
            <a:fld id="{153C36CC-C787-4AD8-867B-487E658E7736}" type="slidenum">
              <a:rPr lang="en-GB" smtClean="0"/>
              <a:t>18</a:t>
            </a:fld>
            <a:endParaRPr lang="en-GB"/>
          </a:p>
        </p:txBody>
      </p:sp>
    </p:spTree>
    <p:extLst>
      <p:ext uri="{BB962C8B-B14F-4D97-AF65-F5344CB8AC3E}">
        <p14:creationId xmlns:p14="http://schemas.microsoft.com/office/powerpoint/2010/main" val="2132241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B51F2FD-8538-4B99-86D8-3063A61FE2EE}"/>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A9FDED32-6C99-4F7A-A826-87C00AF8CAE2}"/>
              </a:ext>
            </a:extLst>
          </p:cNvPr>
          <p:cNvSpPr>
            <a:spLocks noGrp="1"/>
          </p:cNvSpPr>
          <p:nvPr>
            <p:ph type="body" idx="1"/>
          </p:nvPr>
        </p:nvSpPr>
        <p:spPr>
          <a:noFill/>
        </p:spPr>
        <p:txBody>
          <a:bodyPr/>
          <a:lstStyle/>
          <a:p>
            <a:endParaRPr lang="en-GB" altLang="en-US" dirty="0">
              <a:latin typeface="Arial"/>
              <a:cs typeface="Arial"/>
            </a:endParaRPr>
          </a:p>
          <a:p>
            <a:endParaRPr lang="en-GB" altLang="en-US" dirty="0">
              <a:latin typeface="Arial"/>
              <a:cs typeface="Arial"/>
            </a:endParaRPr>
          </a:p>
        </p:txBody>
      </p:sp>
      <p:sp>
        <p:nvSpPr>
          <p:cNvPr id="15364" name="Slide Number Placeholder 3">
            <a:extLst>
              <a:ext uri="{FF2B5EF4-FFF2-40B4-BE49-F238E27FC236}">
                <a16:creationId xmlns:a16="http://schemas.microsoft.com/office/drawing/2014/main" id="{1667D0DD-40C5-4BEC-AB4A-0E6A50852456}"/>
              </a:ext>
            </a:extLst>
          </p:cNvPr>
          <p:cNvSpPr>
            <a:spLocks noGrp="1"/>
          </p:cNvSpPr>
          <p:nvPr>
            <p:ph type="sldNum" sz="quarter" idx="5"/>
          </p:nvPr>
        </p:nvSpPr>
        <p:spPr>
          <a:noFill/>
        </p:spPr>
        <p:txBody>
          <a:bodyPr/>
          <a:lstStyle>
            <a:lvl1pPr>
              <a:defRPr sz="2400">
                <a:solidFill>
                  <a:srgbClr val="000000"/>
                </a:solidFill>
                <a:latin typeface="Lucida Sans" panose="020B0602030504020204" pitchFamily="34" charset="0"/>
                <a:ea typeface="ＭＳ Ｐゴシック" panose="020B0600070205080204" pitchFamily="34" charset="-128"/>
              </a:defRPr>
            </a:lvl1pPr>
            <a:lvl2pPr marL="742950" indent="-285750">
              <a:defRPr sz="2400">
                <a:solidFill>
                  <a:srgbClr val="000000"/>
                </a:solidFill>
                <a:latin typeface="Lucida Sans" panose="020B0602030504020204" pitchFamily="34" charset="0"/>
                <a:ea typeface="ＭＳ Ｐゴシック" panose="020B0600070205080204" pitchFamily="34" charset="-128"/>
              </a:defRPr>
            </a:lvl2pPr>
            <a:lvl3pPr marL="1143000" indent="-228600">
              <a:defRPr sz="2400">
                <a:solidFill>
                  <a:srgbClr val="000000"/>
                </a:solidFill>
                <a:latin typeface="Lucida Sans" panose="020B0602030504020204" pitchFamily="34" charset="0"/>
                <a:ea typeface="ＭＳ Ｐゴシック" panose="020B0600070205080204" pitchFamily="34" charset="-128"/>
              </a:defRPr>
            </a:lvl3pPr>
            <a:lvl4pPr marL="1600200" indent="-228600">
              <a:defRPr sz="2400">
                <a:solidFill>
                  <a:srgbClr val="000000"/>
                </a:solidFill>
                <a:latin typeface="Lucida Sans" panose="020B0602030504020204" pitchFamily="34" charset="0"/>
                <a:ea typeface="ＭＳ Ｐゴシック" panose="020B0600070205080204" pitchFamily="34" charset="-128"/>
              </a:defRPr>
            </a:lvl4pPr>
            <a:lvl5pPr marL="2057400" indent="-228600">
              <a:defRPr sz="2400">
                <a:solidFill>
                  <a:srgbClr val="000000"/>
                </a:solidFill>
                <a:latin typeface="Lucida Sans" panose="020B0602030504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rgbClr val="000000"/>
                </a:solidFill>
                <a:latin typeface="Lucida Sans" panose="020B0602030504020204" pitchFamily="34" charset="0"/>
                <a:ea typeface="ＭＳ Ｐゴシック" panose="020B0600070205080204" pitchFamily="34" charset="-128"/>
              </a:defRPr>
            </a:lvl9pPr>
          </a:lstStyle>
          <a:p>
            <a:fld id="{A00C845B-02B9-4102-AB1C-E5E996FEA993}" type="slidenum">
              <a:rPr lang="en-GB" altLang="en-US" sz="1200">
                <a:solidFill>
                  <a:schemeClr val="tx1"/>
                </a:solidFill>
                <a:latin typeface="Arial" panose="020B0604020202020204" pitchFamily="34" charset="0"/>
              </a:rPr>
              <a:pPr/>
              <a:t>20</a:t>
            </a:fld>
            <a:endParaRPr lang="en-GB" altLang="en-US" sz="1200">
              <a:solidFill>
                <a:schemeClr val="tx1"/>
              </a:solidFill>
              <a:latin typeface="Arial" panose="020B0604020202020204" pitchFamily="34" charset="0"/>
            </a:endParaRPr>
          </a:p>
        </p:txBody>
      </p:sp>
    </p:spTree>
    <p:extLst>
      <p:ext uri="{BB962C8B-B14F-4D97-AF65-F5344CB8AC3E}">
        <p14:creationId xmlns:p14="http://schemas.microsoft.com/office/powerpoint/2010/main" val="3013065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00724-DE67-C0E2-6718-31CD0AEC5D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6A56340-22C0-4E7D-A3BD-083E9BF50B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5FB57F5-6ADA-2829-4549-792FE27B82E3}"/>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5" name="Footer Placeholder 4">
            <a:extLst>
              <a:ext uri="{FF2B5EF4-FFF2-40B4-BE49-F238E27FC236}">
                <a16:creationId xmlns:a16="http://schemas.microsoft.com/office/drawing/2014/main" id="{ED9BCC92-21EF-6307-0FDE-780E5624AD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6C184D-B01D-3B03-6FF2-1E63A8057A3E}"/>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302800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CD4F4-4C98-A80F-236D-6268754190F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D292A31-16B4-3195-C117-CEFE090969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FA2A1A4-2542-9343-3E5D-8BD60AC32136}"/>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5" name="Footer Placeholder 4">
            <a:extLst>
              <a:ext uri="{FF2B5EF4-FFF2-40B4-BE49-F238E27FC236}">
                <a16:creationId xmlns:a16="http://schemas.microsoft.com/office/drawing/2014/main" id="{5C8C0674-7FD1-A5EE-CD97-B72A208601D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6452682-AC4F-F381-949B-EDC1A659F70E}"/>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2623311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7BF75-84A4-86BD-F5F7-917DAC7C52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C764C8B-84A9-840E-CE84-03B01D261E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A23503-7D53-3C85-0D82-AE033DB00993}"/>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5" name="Footer Placeholder 4">
            <a:extLst>
              <a:ext uri="{FF2B5EF4-FFF2-40B4-BE49-F238E27FC236}">
                <a16:creationId xmlns:a16="http://schemas.microsoft.com/office/drawing/2014/main" id="{B02F77E1-502E-69A7-4903-EC25EA26115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212A33-06F5-9811-F171-95B39BF849AD}"/>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3007588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0884D-EA8E-3667-A06A-ADDE6B894B8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43C01AD-83BF-5F07-6399-82AA54005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8E1BF57-D171-A5D7-4BF1-5D75B8E7B3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8EDDB0A-F742-CCD6-78FD-A0725B4D392E}"/>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6" name="Footer Placeholder 5">
            <a:extLst>
              <a:ext uri="{FF2B5EF4-FFF2-40B4-BE49-F238E27FC236}">
                <a16:creationId xmlns:a16="http://schemas.microsoft.com/office/drawing/2014/main" id="{CE339B87-A2F0-5336-8D5C-5258BDF46F2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40A820-0679-692D-6FA3-F9F33815C9A3}"/>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2886923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2943D-2EA4-9B6C-63A5-2B3747E8AB1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32957EC-3F86-A2A7-43DD-E80FE9A71F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A0F75D-6C06-7864-2FC5-1EDE05DF21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4A5F243-FE38-37EA-8E90-5928247899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4206F8-2B2A-4D7B-71B6-60BE5BC9CD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FFE2742-E78F-0965-917C-DBC5F59419FB}"/>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8" name="Footer Placeholder 7">
            <a:extLst>
              <a:ext uri="{FF2B5EF4-FFF2-40B4-BE49-F238E27FC236}">
                <a16:creationId xmlns:a16="http://schemas.microsoft.com/office/drawing/2014/main" id="{E336334D-DF80-7400-34BB-99FF9FE2ADB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C2884B-49E4-C99D-81E8-DEFE0DCFB4C0}"/>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671410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8774-DD5C-12E0-0254-69426249A1C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9C17AE9-BB2E-1DDF-5EC4-9217EBCACCE5}"/>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4" name="Footer Placeholder 3">
            <a:extLst>
              <a:ext uri="{FF2B5EF4-FFF2-40B4-BE49-F238E27FC236}">
                <a16:creationId xmlns:a16="http://schemas.microsoft.com/office/drawing/2014/main" id="{D32437C2-DE48-62D2-FD11-CBBFD964344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6EB9C31-94E7-BA26-9D5E-6C371CF1F0FA}"/>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249195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7F568B-F073-1E2E-A9CF-0839CCC181B4}"/>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3" name="Footer Placeholder 2">
            <a:extLst>
              <a:ext uri="{FF2B5EF4-FFF2-40B4-BE49-F238E27FC236}">
                <a16:creationId xmlns:a16="http://schemas.microsoft.com/office/drawing/2014/main" id="{0618B934-ECDC-6594-06F9-40829D796C5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2660459-C5B2-D20C-32D1-16271E488190}"/>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256109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13C9A-31B2-5E90-FD53-30D45210B9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7E9E67B-0689-B617-40A5-F35F52C0DF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0CB1405-1ECB-2E3D-8E02-6E9D035FFE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BA18D3-3A3F-04D1-5364-3990D263C049}"/>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6" name="Footer Placeholder 5">
            <a:extLst>
              <a:ext uri="{FF2B5EF4-FFF2-40B4-BE49-F238E27FC236}">
                <a16:creationId xmlns:a16="http://schemas.microsoft.com/office/drawing/2014/main" id="{1A3F0871-41E7-5CFA-5EAF-63DAA56DCE9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F2BB709-AFB4-935B-C18B-6DEAF87C2E4B}"/>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4285668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0F69F-C25E-800D-35B8-93BA2E7BB2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D94E46-6284-BB64-939A-D56A0F44B2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4B3AEBA-C800-4512-6AF6-84D27B06D9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2129F6-6809-16B7-8208-1045CFB148FA}"/>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6" name="Footer Placeholder 5">
            <a:extLst>
              <a:ext uri="{FF2B5EF4-FFF2-40B4-BE49-F238E27FC236}">
                <a16:creationId xmlns:a16="http://schemas.microsoft.com/office/drawing/2014/main" id="{F4703108-CA07-D928-6B48-CFA560018BC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0D2443A-DC0F-2A22-4C2D-45F1FAAAB383}"/>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442825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593D1-87D0-64AC-12FC-6362C62945E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FF21154-118C-F48F-EA7A-BEE3382FDF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9E0651-F884-1D01-406D-B92208173653}"/>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5" name="Footer Placeholder 4">
            <a:extLst>
              <a:ext uri="{FF2B5EF4-FFF2-40B4-BE49-F238E27FC236}">
                <a16:creationId xmlns:a16="http://schemas.microsoft.com/office/drawing/2014/main" id="{DF1B737B-141B-5473-90A6-E49ED30CA94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92256E5-1E13-E0C5-A0F5-AA4818EEAFB0}"/>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2306094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CA6C8C-BAAC-8AD2-AF25-754CBC5B62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F42392F-66AB-D4AB-327E-40D79A3E74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F7AFFC-8833-B333-6CDC-32A9E0BB7A9E}"/>
              </a:ext>
            </a:extLst>
          </p:cNvPr>
          <p:cNvSpPr>
            <a:spLocks noGrp="1"/>
          </p:cNvSpPr>
          <p:nvPr>
            <p:ph type="dt" sz="half" idx="10"/>
          </p:nvPr>
        </p:nvSpPr>
        <p:spPr/>
        <p:txBody>
          <a:bodyPr/>
          <a:lstStyle/>
          <a:p>
            <a:fld id="{182B4973-D6CB-464E-9DA2-D9B9D9C354D4}" type="datetimeFigureOut">
              <a:rPr lang="en-GB" smtClean="0"/>
              <a:t>30/09/2025</a:t>
            </a:fld>
            <a:endParaRPr lang="en-GB"/>
          </a:p>
        </p:txBody>
      </p:sp>
      <p:sp>
        <p:nvSpPr>
          <p:cNvPr id="5" name="Footer Placeholder 4">
            <a:extLst>
              <a:ext uri="{FF2B5EF4-FFF2-40B4-BE49-F238E27FC236}">
                <a16:creationId xmlns:a16="http://schemas.microsoft.com/office/drawing/2014/main" id="{5263D78F-22CB-8A6A-CDD5-C775F3DC5E2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811A0F-29D4-0195-63F2-D888629078FE}"/>
              </a:ext>
            </a:extLst>
          </p:cNvPr>
          <p:cNvSpPr>
            <a:spLocks noGrp="1"/>
          </p:cNvSpPr>
          <p:nvPr>
            <p:ph type="sldNum" sz="quarter" idx="12"/>
          </p:nvPr>
        </p:nvSpPr>
        <p:spPr/>
        <p:txBody>
          <a:bodyPr/>
          <a:lstStyle/>
          <a:p>
            <a:fld id="{7260A9CD-CAE7-42DB-B855-F0DD61E7EBB6}" type="slidenum">
              <a:rPr lang="en-GB" smtClean="0"/>
              <a:t>‹#›</a:t>
            </a:fld>
            <a:endParaRPr lang="en-GB"/>
          </a:p>
        </p:txBody>
      </p:sp>
    </p:spTree>
    <p:extLst>
      <p:ext uri="{BB962C8B-B14F-4D97-AF65-F5344CB8AC3E}">
        <p14:creationId xmlns:p14="http://schemas.microsoft.com/office/powerpoint/2010/main" val="348487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A2C7FB-432D-04E5-1AC9-5E9C8D9ED4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C7C9D58-64A3-50C2-F5AA-B2E78D720A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CF1D77E-F718-E3C2-9FF0-8A3E6C6035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2B4973-D6CB-464E-9DA2-D9B9D9C354D4}" type="datetimeFigureOut">
              <a:rPr lang="en-GB" smtClean="0"/>
              <a:t>30/09/2025</a:t>
            </a:fld>
            <a:endParaRPr lang="en-GB"/>
          </a:p>
        </p:txBody>
      </p:sp>
      <p:sp>
        <p:nvSpPr>
          <p:cNvPr id="5" name="Footer Placeholder 4">
            <a:extLst>
              <a:ext uri="{FF2B5EF4-FFF2-40B4-BE49-F238E27FC236}">
                <a16:creationId xmlns:a16="http://schemas.microsoft.com/office/drawing/2014/main" id="{9C9BED6C-0718-B9A2-C61C-8ACD098CC5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CDD28FA-E275-67C9-E5B3-60CAB02DA0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60A9CD-CAE7-42DB-B855-F0DD61E7EBB6}" type="slidenum">
              <a:rPr lang="en-GB" smtClean="0"/>
              <a:t>‹#›</a:t>
            </a:fld>
            <a:endParaRPr lang="en-GB"/>
          </a:p>
        </p:txBody>
      </p:sp>
    </p:spTree>
    <p:extLst>
      <p:ext uri="{BB962C8B-B14F-4D97-AF65-F5344CB8AC3E}">
        <p14:creationId xmlns:p14="http://schemas.microsoft.com/office/powerpoint/2010/main" val="2826858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4_CC6E8862.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microsoft.com/office/2018/10/relationships/comments" Target="../comments/modernComment_102_FF233E8A.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30_201CA7A.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E_558A982C.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08_ACDF4FB7.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156E6-0DE1-D7FC-323A-4D6009D3882E}"/>
              </a:ext>
            </a:extLst>
          </p:cNvPr>
          <p:cNvSpPr>
            <a:spLocks noGrp="1"/>
          </p:cNvSpPr>
          <p:nvPr>
            <p:ph type="ctrTitle"/>
          </p:nvPr>
        </p:nvSpPr>
        <p:spPr/>
        <p:txBody>
          <a:bodyPr/>
          <a:lstStyle/>
          <a:p>
            <a:r>
              <a:rPr lang="en-GB" dirty="0"/>
              <a:t>Health and Safety in Experimental Labs</a:t>
            </a:r>
          </a:p>
        </p:txBody>
      </p:sp>
      <p:sp>
        <p:nvSpPr>
          <p:cNvPr id="3" name="Subtitle 2">
            <a:extLst>
              <a:ext uri="{FF2B5EF4-FFF2-40B4-BE49-F238E27FC236}">
                <a16:creationId xmlns:a16="http://schemas.microsoft.com/office/drawing/2014/main" id="{A0C009DA-FF47-4482-6AE0-169D3E7D424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22061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1EB8D-1FA5-A55C-C333-5A0BA560C11D}"/>
              </a:ext>
            </a:extLst>
          </p:cNvPr>
          <p:cNvSpPr>
            <a:spLocks noGrp="1"/>
          </p:cNvSpPr>
          <p:nvPr>
            <p:ph type="title"/>
          </p:nvPr>
        </p:nvSpPr>
        <p:spPr/>
        <p:txBody>
          <a:bodyPr/>
          <a:lstStyle/>
          <a:p>
            <a:r>
              <a:rPr lang="en-GB" dirty="0"/>
              <a:t>Crossing a Road</a:t>
            </a:r>
          </a:p>
        </p:txBody>
      </p:sp>
      <p:pic>
        <p:nvPicPr>
          <p:cNvPr id="5" name="Picture 4" descr="A road with a person walking on it&#10;&#10;Description automatically generated">
            <a:extLst>
              <a:ext uri="{FF2B5EF4-FFF2-40B4-BE49-F238E27FC236}">
                <a16:creationId xmlns:a16="http://schemas.microsoft.com/office/drawing/2014/main" id="{BF78B7D3-8C09-7374-D6BE-94E6A9DBB9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5312" y="1997964"/>
            <a:ext cx="4431792" cy="3323844"/>
          </a:xfrm>
          <a:prstGeom prst="rect">
            <a:avLst/>
          </a:prstGeom>
        </p:spPr>
      </p:pic>
      <p:pic>
        <p:nvPicPr>
          <p:cNvPr id="7" name="Picture 6" descr="A road with trees and a person walking on it&#10;&#10;Description automatically generated">
            <a:extLst>
              <a:ext uri="{FF2B5EF4-FFF2-40B4-BE49-F238E27FC236}">
                <a16:creationId xmlns:a16="http://schemas.microsoft.com/office/drawing/2014/main" id="{BB5EB523-399D-7313-1B73-837B23EFE3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7280" y="1997964"/>
            <a:ext cx="4431792" cy="3323844"/>
          </a:xfrm>
          <a:prstGeom prst="rect">
            <a:avLst/>
          </a:prstGeom>
        </p:spPr>
      </p:pic>
    </p:spTree>
    <p:extLst>
      <p:ext uri="{BB962C8B-B14F-4D97-AF65-F5344CB8AC3E}">
        <p14:creationId xmlns:p14="http://schemas.microsoft.com/office/powerpoint/2010/main" val="3328304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A9A3D-90D6-EAA5-3AAF-31176D87331E}"/>
              </a:ext>
            </a:extLst>
          </p:cNvPr>
          <p:cNvSpPr>
            <a:spLocks noGrp="1"/>
          </p:cNvSpPr>
          <p:nvPr>
            <p:ph type="title"/>
          </p:nvPr>
        </p:nvSpPr>
        <p:spPr/>
        <p:txBody>
          <a:bodyPr/>
          <a:lstStyle/>
          <a:p>
            <a:r>
              <a:rPr lang="en-GB" dirty="0"/>
              <a:t>Proposition</a:t>
            </a:r>
          </a:p>
        </p:txBody>
      </p:sp>
      <p:sp>
        <p:nvSpPr>
          <p:cNvPr id="3" name="Content Placeholder 2">
            <a:extLst>
              <a:ext uri="{FF2B5EF4-FFF2-40B4-BE49-F238E27FC236}">
                <a16:creationId xmlns:a16="http://schemas.microsoft.com/office/drawing/2014/main" id="{499C5223-10F0-DF07-CE5F-8CD010AE821C}"/>
              </a:ext>
            </a:extLst>
          </p:cNvPr>
          <p:cNvSpPr>
            <a:spLocks noGrp="1"/>
          </p:cNvSpPr>
          <p:nvPr>
            <p:ph idx="1"/>
          </p:nvPr>
        </p:nvSpPr>
        <p:spPr>
          <a:xfrm>
            <a:off x="838200" y="1825625"/>
            <a:ext cx="10515600" cy="1325563"/>
          </a:xfrm>
        </p:spPr>
        <p:txBody>
          <a:bodyPr>
            <a:normAutofit/>
          </a:bodyPr>
          <a:lstStyle/>
          <a:p>
            <a:r>
              <a:rPr lang="en-GB" dirty="0"/>
              <a:t>Everyone wants to go home after doing an experiment unharmed and without doing harm to anyone else</a:t>
            </a:r>
          </a:p>
        </p:txBody>
      </p:sp>
      <p:sp>
        <p:nvSpPr>
          <p:cNvPr id="4" name="TextBox 3">
            <a:extLst>
              <a:ext uri="{FF2B5EF4-FFF2-40B4-BE49-F238E27FC236}">
                <a16:creationId xmlns:a16="http://schemas.microsoft.com/office/drawing/2014/main" id="{3C3C6A28-ADD0-54C9-AB46-E800803B06E6}"/>
              </a:ext>
            </a:extLst>
          </p:cNvPr>
          <p:cNvSpPr txBox="1"/>
          <p:nvPr/>
        </p:nvSpPr>
        <p:spPr>
          <a:xfrm>
            <a:off x="2832125" y="3282329"/>
            <a:ext cx="6527749" cy="923330"/>
          </a:xfrm>
          <a:prstGeom prst="rect">
            <a:avLst/>
          </a:prstGeom>
          <a:noFill/>
        </p:spPr>
        <p:txBody>
          <a:bodyPr wrap="none" rtlCol="0">
            <a:spAutoFit/>
          </a:bodyPr>
          <a:lstStyle/>
          <a:p>
            <a:r>
              <a:rPr lang="en-GB" sz="5400" dirty="0">
                <a:solidFill>
                  <a:srgbClr val="00B050"/>
                </a:solidFill>
                <a:latin typeface="Hammersmith One" panose="020F0502020204030204" pitchFamily="2" charset="0"/>
              </a:rPr>
              <a:t>Agree</a:t>
            </a:r>
            <a:r>
              <a:rPr lang="en-GB" sz="5400" dirty="0">
                <a:latin typeface="Hammersmith One" panose="020F0502020204030204" pitchFamily="2" charset="0"/>
              </a:rPr>
              <a:t> or </a:t>
            </a:r>
            <a:r>
              <a:rPr lang="en-GB" sz="5400" dirty="0">
                <a:solidFill>
                  <a:srgbClr val="FF0000"/>
                </a:solidFill>
                <a:latin typeface="Hammersmith One" panose="020F0502020204030204" pitchFamily="2" charset="0"/>
              </a:rPr>
              <a:t>Disagree</a:t>
            </a:r>
            <a:r>
              <a:rPr lang="en-GB" sz="5400" dirty="0">
                <a:latin typeface="Hammersmith One" panose="020F0502020204030204" pitchFamily="2" charset="0"/>
              </a:rPr>
              <a:t> ?</a:t>
            </a:r>
          </a:p>
        </p:txBody>
      </p:sp>
    </p:spTree>
    <p:extLst>
      <p:ext uri="{BB962C8B-B14F-4D97-AF65-F5344CB8AC3E}">
        <p14:creationId xmlns:p14="http://schemas.microsoft.com/office/powerpoint/2010/main" val="1266192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14F0-B6EC-80FF-AD62-ED100EC232A5}"/>
              </a:ext>
            </a:extLst>
          </p:cNvPr>
          <p:cNvSpPr>
            <a:spLocks noGrp="1"/>
          </p:cNvSpPr>
          <p:nvPr>
            <p:ph type="title"/>
          </p:nvPr>
        </p:nvSpPr>
        <p:spPr/>
        <p:txBody>
          <a:bodyPr/>
          <a:lstStyle/>
          <a:p>
            <a:r>
              <a:rPr lang="en-GB" dirty="0"/>
              <a:t>What are the hazards in this lab?</a:t>
            </a:r>
          </a:p>
        </p:txBody>
      </p:sp>
      <p:pic>
        <p:nvPicPr>
          <p:cNvPr id="5" name="Picture 4" descr="A room with several computers and equipment&#10;&#10;Description automatically generated">
            <a:extLst>
              <a:ext uri="{FF2B5EF4-FFF2-40B4-BE49-F238E27FC236}">
                <a16:creationId xmlns:a16="http://schemas.microsoft.com/office/drawing/2014/main" id="{9083518D-2F6F-6FB3-06A4-F95EAB11A1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5184" y="1644968"/>
            <a:ext cx="6388608" cy="4791456"/>
          </a:xfrm>
          <a:prstGeom prst="rect">
            <a:avLst/>
          </a:prstGeom>
        </p:spPr>
      </p:pic>
    </p:spTree>
    <p:extLst>
      <p:ext uri="{BB962C8B-B14F-4D97-AF65-F5344CB8AC3E}">
        <p14:creationId xmlns:p14="http://schemas.microsoft.com/office/powerpoint/2010/main" val="3429795938"/>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C4575-D214-C2AA-5A6B-AEEFAA5EFD06}"/>
              </a:ext>
            </a:extLst>
          </p:cNvPr>
          <p:cNvSpPr>
            <a:spLocks noGrp="1"/>
          </p:cNvSpPr>
          <p:nvPr>
            <p:ph type="title"/>
          </p:nvPr>
        </p:nvSpPr>
        <p:spPr/>
        <p:txBody>
          <a:bodyPr/>
          <a:lstStyle/>
          <a:p>
            <a:r>
              <a:rPr lang="en-GB" dirty="0"/>
              <a:t>Observations</a:t>
            </a:r>
          </a:p>
        </p:txBody>
      </p:sp>
      <p:sp>
        <p:nvSpPr>
          <p:cNvPr id="3" name="Content Placeholder 2">
            <a:extLst>
              <a:ext uri="{FF2B5EF4-FFF2-40B4-BE49-F238E27FC236}">
                <a16:creationId xmlns:a16="http://schemas.microsoft.com/office/drawing/2014/main" id="{2AA25357-D8AC-CE4F-B240-D43CE765BDF6}"/>
              </a:ext>
            </a:extLst>
          </p:cNvPr>
          <p:cNvSpPr>
            <a:spLocks noGrp="1"/>
          </p:cNvSpPr>
          <p:nvPr>
            <p:ph idx="1"/>
          </p:nvPr>
        </p:nvSpPr>
        <p:spPr>
          <a:xfrm>
            <a:off x="838200" y="1825625"/>
            <a:ext cx="10515600" cy="1603375"/>
          </a:xfrm>
        </p:spPr>
        <p:txBody>
          <a:bodyPr/>
          <a:lstStyle/>
          <a:p>
            <a:r>
              <a:rPr lang="en-GB" dirty="0"/>
              <a:t>Experimental laboratories can be dangerous and even lethal places</a:t>
            </a:r>
          </a:p>
          <a:p>
            <a:r>
              <a:rPr lang="en-GB" dirty="0"/>
              <a:t>People work in experimental laboratories every day without harm and whilst incidents do occur, they are not common. </a:t>
            </a:r>
          </a:p>
        </p:txBody>
      </p:sp>
    </p:spTree>
    <p:extLst>
      <p:ext uri="{BB962C8B-B14F-4D97-AF65-F5344CB8AC3E}">
        <p14:creationId xmlns:p14="http://schemas.microsoft.com/office/powerpoint/2010/main" val="4280499850"/>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2AE8B7-2524-BA27-139A-938A7D85AF6E}"/>
              </a:ext>
            </a:extLst>
          </p:cNvPr>
          <p:cNvSpPr txBox="1"/>
          <p:nvPr/>
        </p:nvSpPr>
        <p:spPr>
          <a:xfrm>
            <a:off x="691977" y="769118"/>
            <a:ext cx="10037043" cy="769441"/>
          </a:xfrm>
          <a:prstGeom prst="rect">
            <a:avLst/>
          </a:prstGeom>
          <a:noFill/>
        </p:spPr>
        <p:txBody>
          <a:bodyPr wrap="none" rtlCol="0">
            <a:spAutoFit/>
          </a:bodyPr>
          <a:lstStyle/>
          <a:p>
            <a:r>
              <a:rPr lang="en-GB" sz="4400" dirty="0"/>
              <a:t>How can we reconcile these observations? </a:t>
            </a:r>
          </a:p>
        </p:txBody>
      </p:sp>
      <p:sp>
        <p:nvSpPr>
          <p:cNvPr id="5" name="TextBox 4">
            <a:extLst>
              <a:ext uri="{FF2B5EF4-FFF2-40B4-BE49-F238E27FC236}">
                <a16:creationId xmlns:a16="http://schemas.microsoft.com/office/drawing/2014/main" id="{89C01471-0EAD-181A-FE37-D9B7165CDA0C}"/>
              </a:ext>
            </a:extLst>
          </p:cNvPr>
          <p:cNvSpPr txBox="1"/>
          <p:nvPr/>
        </p:nvSpPr>
        <p:spPr>
          <a:xfrm>
            <a:off x="691977" y="1917063"/>
            <a:ext cx="10401697" cy="2677656"/>
          </a:xfrm>
          <a:prstGeom prst="rect">
            <a:avLst/>
          </a:prstGeom>
          <a:noFill/>
        </p:spPr>
        <p:txBody>
          <a:bodyPr wrap="square" rtlCol="0">
            <a:spAutoFit/>
          </a:bodyPr>
          <a:lstStyle/>
          <a:p>
            <a:r>
              <a:rPr lang="en-GB" sz="2800" dirty="0"/>
              <a:t>Scientists</a:t>
            </a:r>
          </a:p>
          <a:p>
            <a:endParaRPr lang="en-GB" sz="2800" dirty="0"/>
          </a:p>
          <a:p>
            <a:pPr marL="457200" indent="-457200">
              <a:buFont typeface="Arial" panose="020B0604020202020204" pitchFamily="34" charset="0"/>
              <a:buChar char="•"/>
            </a:pPr>
            <a:r>
              <a:rPr lang="en-GB" sz="2800" dirty="0"/>
              <a:t>are aware of the risks associated with their experiments </a:t>
            </a:r>
          </a:p>
          <a:p>
            <a:pPr marL="457200" indent="-457200">
              <a:buFont typeface="Arial" panose="020B0604020202020204" pitchFamily="34" charset="0"/>
              <a:buChar char="•"/>
            </a:pPr>
            <a:r>
              <a:rPr lang="en-GB" sz="2800" dirty="0"/>
              <a:t>design their experiments to reduce the risks. </a:t>
            </a:r>
          </a:p>
          <a:p>
            <a:pPr marL="457200" indent="-457200">
              <a:buFont typeface="Arial" panose="020B0604020202020204" pitchFamily="34" charset="0"/>
              <a:buChar char="•"/>
            </a:pPr>
            <a:r>
              <a:rPr lang="en-GB" sz="2800" dirty="0"/>
              <a:t>undertake them in ways to reduce the risks.</a:t>
            </a:r>
          </a:p>
          <a:p>
            <a:pPr marL="457200" indent="-457200">
              <a:buFont typeface="Arial" panose="020B0604020202020204" pitchFamily="34" charset="0"/>
              <a:buChar char="•"/>
            </a:pPr>
            <a:r>
              <a:rPr lang="en-GB" sz="2800" dirty="0"/>
              <a:t>don’t do an experiment if it would be too risky. </a:t>
            </a:r>
          </a:p>
        </p:txBody>
      </p:sp>
    </p:spTree>
    <p:extLst>
      <p:ext uri="{BB962C8B-B14F-4D97-AF65-F5344CB8AC3E}">
        <p14:creationId xmlns:p14="http://schemas.microsoft.com/office/powerpoint/2010/main" val="1460975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0DD3-40E7-272E-8576-0D7E90B2B8A5}"/>
              </a:ext>
            </a:extLst>
          </p:cNvPr>
          <p:cNvSpPr>
            <a:spLocks noGrp="1"/>
          </p:cNvSpPr>
          <p:nvPr>
            <p:ph type="title"/>
          </p:nvPr>
        </p:nvSpPr>
        <p:spPr/>
        <p:txBody>
          <a:bodyPr/>
          <a:lstStyle/>
          <a:p>
            <a:r>
              <a:rPr lang="en-GB" dirty="0"/>
              <a:t>Health and Safety Law</a:t>
            </a:r>
          </a:p>
        </p:txBody>
      </p:sp>
      <p:sp>
        <p:nvSpPr>
          <p:cNvPr id="3" name="Content Placeholder 2">
            <a:extLst>
              <a:ext uri="{FF2B5EF4-FFF2-40B4-BE49-F238E27FC236}">
                <a16:creationId xmlns:a16="http://schemas.microsoft.com/office/drawing/2014/main" id="{57D3B233-7485-4FE1-6529-9C92F0637CBD}"/>
              </a:ext>
            </a:extLst>
          </p:cNvPr>
          <p:cNvSpPr>
            <a:spLocks noGrp="1"/>
          </p:cNvSpPr>
          <p:nvPr>
            <p:ph idx="1"/>
          </p:nvPr>
        </p:nvSpPr>
        <p:spPr>
          <a:xfrm>
            <a:off x="838200" y="1570864"/>
            <a:ext cx="10515600" cy="3494912"/>
          </a:xfrm>
        </p:spPr>
        <p:txBody>
          <a:bodyPr/>
          <a:lstStyle/>
          <a:p>
            <a:r>
              <a:rPr lang="en-GB" dirty="0"/>
              <a:t>You and everyone you work with has a legal obligations to ensure the safety of themselves and others around them.</a:t>
            </a:r>
          </a:p>
          <a:p>
            <a:r>
              <a:rPr lang="en-GB" dirty="0"/>
              <a:t>You cannot delegate that responsibility down or up. </a:t>
            </a:r>
          </a:p>
          <a:p>
            <a:r>
              <a:rPr lang="en-GB" dirty="0"/>
              <a:t>If you think something is unsafe, or could be unsafe, you have a legal  responsibility to act.</a:t>
            </a:r>
          </a:p>
          <a:p>
            <a:r>
              <a:rPr lang="en-GB" dirty="0"/>
              <a:t>A risk assessment is part of doing things safely and having a </a:t>
            </a:r>
            <a:r>
              <a:rPr lang="en-GB" dirty="0">
                <a:solidFill>
                  <a:srgbClr val="FF0000"/>
                </a:solidFill>
              </a:rPr>
              <a:t>‘suitable and sufficient’</a:t>
            </a:r>
            <a:r>
              <a:rPr lang="en-GB" dirty="0"/>
              <a:t>  risk assessment is a legal obligation </a:t>
            </a:r>
          </a:p>
        </p:txBody>
      </p:sp>
    </p:spTree>
    <p:extLst>
      <p:ext uri="{BB962C8B-B14F-4D97-AF65-F5344CB8AC3E}">
        <p14:creationId xmlns:p14="http://schemas.microsoft.com/office/powerpoint/2010/main" val="4249546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A972D-7A83-7F2D-7AD5-2E9EFC733795}"/>
              </a:ext>
            </a:extLst>
          </p:cNvPr>
          <p:cNvSpPr>
            <a:spLocks noGrp="1"/>
          </p:cNvSpPr>
          <p:nvPr>
            <p:ph type="title"/>
          </p:nvPr>
        </p:nvSpPr>
        <p:spPr/>
        <p:txBody>
          <a:bodyPr/>
          <a:lstStyle/>
          <a:p>
            <a:r>
              <a:rPr lang="en-GB" dirty="0"/>
              <a:t>Assessing the Risks – a Risk Assessment</a:t>
            </a:r>
          </a:p>
        </p:txBody>
      </p:sp>
      <p:sp>
        <p:nvSpPr>
          <p:cNvPr id="3" name="Content Placeholder 2">
            <a:extLst>
              <a:ext uri="{FF2B5EF4-FFF2-40B4-BE49-F238E27FC236}">
                <a16:creationId xmlns:a16="http://schemas.microsoft.com/office/drawing/2014/main" id="{2B7E4FDC-FF17-6AE5-CBD0-633516EEFEE6}"/>
              </a:ext>
            </a:extLst>
          </p:cNvPr>
          <p:cNvSpPr>
            <a:spLocks noGrp="1"/>
          </p:cNvSpPr>
          <p:nvPr>
            <p:ph idx="1"/>
          </p:nvPr>
        </p:nvSpPr>
        <p:spPr>
          <a:xfrm>
            <a:off x="838200" y="1825625"/>
            <a:ext cx="10515600" cy="2774510"/>
          </a:xfrm>
        </p:spPr>
        <p:txBody>
          <a:bodyPr>
            <a:normAutofit fontScale="92500" lnSpcReduction="10000"/>
          </a:bodyPr>
          <a:lstStyle/>
          <a:p>
            <a:r>
              <a:rPr lang="en-GB" dirty="0"/>
              <a:t>Before you do any work in a lab or other unfamiliar environment you need to think through the risks.</a:t>
            </a:r>
          </a:p>
          <a:p>
            <a:r>
              <a:rPr lang="en-GB" dirty="0"/>
              <a:t>Doing this</a:t>
            </a:r>
            <a:r>
              <a:rPr lang="en-GB" b="1" dirty="0"/>
              <a:t> formally </a:t>
            </a:r>
            <a:r>
              <a:rPr lang="en-GB" dirty="0"/>
              <a:t>means you are less likely to make a mistake and more likely to find all the risks. </a:t>
            </a:r>
          </a:p>
          <a:p>
            <a:r>
              <a:rPr lang="en-GB" dirty="0"/>
              <a:t>The piece of paper on which a risk assessment is written never saved anyone. </a:t>
            </a:r>
          </a:p>
          <a:p>
            <a:r>
              <a:rPr lang="en-GB" dirty="0"/>
              <a:t>The thought process of risk assessment saves many people. </a:t>
            </a:r>
          </a:p>
        </p:txBody>
      </p:sp>
      <p:sp>
        <p:nvSpPr>
          <p:cNvPr id="4" name="TextBox 3">
            <a:extLst>
              <a:ext uri="{FF2B5EF4-FFF2-40B4-BE49-F238E27FC236}">
                <a16:creationId xmlns:a16="http://schemas.microsoft.com/office/drawing/2014/main" id="{AA3769E5-C423-87F1-3FD5-C11B9F86FCDC}"/>
              </a:ext>
            </a:extLst>
          </p:cNvPr>
          <p:cNvSpPr txBox="1"/>
          <p:nvPr/>
        </p:nvSpPr>
        <p:spPr>
          <a:xfrm>
            <a:off x="2038409" y="5119120"/>
            <a:ext cx="7551491" cy="646331"/>
          </a:xfrm>
          <a:prstGeom prst="rect">
            <a:avLst/>
          </a:prstGeom>
          <a:noFill/>
        </p:spPr>
        <p:txBody>
          <a:bodyPr wrap="none" rtlCol="0">
            <a:spAutoFit/>
          </a:bodyPr>
          <a:lstStyle/>
          <a:p>
            <a:r>
              <a:rPr lang="en-GB" sz="3600" dirty="0">
                <a:solidFill>
                  <a:srgbClr val="00B050"/>
                </a:solidFill>
              </a:rPr>
              <a:t>No Thought means No Risk Assessment</a:t>
            </a:r>
          </a:p>
        </p:txBody>
      </p:sp>
    </p:spTree>
    <p:extLst>
      <p:ext uri="{BB962C8B-B14F-4D97-AF65-F5344CB8AC3E}">
        <p14:creationId xmlns:p14="http://schemas.microsoft.com/office/powerpoint/2010/main" val="3503247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a:extLst>
              <a:ext uri="{FF2B5EF4-FFF2-40B4-BE49-F238E27FC236}">
                <a16:creationId xmlns:a16="http://schemas.microsoft.com/office/drawing/2014/main" id="{6393712D-3AE3-4EDD-B0F6-4DD6D74A6481}"/>
              </a:ext>
            </a:extLst>
          </p:cNvPr>
          <p:cNvSpPr>
            <a:spLocks noGrp="1"/>
          </p:cNvSpPr>
          <p:nvPr>
            <p:ph idx="1"/>
          </p:nvPr>
        </p:nvSpPr>
        <p:spPr>
          <a:xfrm>
            <a:off x="2152637" y="2024844"/>
            <a:ext cx="7200900" cy="4435333"/>
          </a:xfrm>
        </p:spPr>
        <p:txBody>
          <a:bodyPr/>
          <a:lstStyle/>
          <a:p>
            <a:pPr marL="514350" indent="-514350">
              <a:buFont typeface="+mj-lt"/>
              <a:buAutoNum type="arabicPeriod"/>
            </a:pPr>
            <a:r>
              <a:rPr lang="en-GB" altLang="en-US" dirty="0"/>
              <a:t>What, how &amp; who:  Identify hazards/ hazardous event/ </a:t>
            </a:r>
            <a:r>
              <a:rPr lang="en-GB" dirty="0">
                <a:ea typeface="+mn-lt"/>
                <a:cs typeface="+mn-lt"/>
              </a:rPr>
              <a:t>who could be harmed</a:t>
            </a:r>
            <a:endParaRPr lang="en-GB" altLang="en-US" dirty="0"/>
          </a:p>
          <a:p>
            <a:pPr marL="514350" indent="-514350">
              <a:buFont typeface="+mj-lt"/>
              <a:buAutoNum type="arabicPeriod"/>
            </a:pPr>
            <a:r>
              <a:rPr lang="en-GB" altLang="en-US" dirty="0"/>
              <a:t>Evaluate risk</a:t>
            </a:r>
          </a:p>
          <a:p>
            <a:pPr marL="514350" indent="-514350">
              <a:buFont typeface="+mj-lt"/>
              <a:buAutoNum type="arabicPeriod"/>
            </a:pPr>
            <a:r>
              <a:rPr lang="en-GB" altLang="en-US" dirty="0"/>
              <a:t>Identify controls</a:t>
            </a:r>
          </a:p>
          <a:p>
            <a:pPr marL="514350" indent="-514350">
              <a:buFont typeface="+mj-lt"/>
              <a:buAutoNum type="arabicPeriod"/>
            </a:pPr>
            <a:r>
              <a:rPr lang="en-GB" altLang="en-US" dirty="0"/>
              <a:t>Record</a:t>
            </a:r>
          </a:p>
          <a:p>
            <a:pPr marL="514350" indent="-514350">
              <a:buFont typeface="+mj-lt"/>
              <a:buAutoNum type="arabicPeriod"/>
            </a:pPr>
            <a:r>
              <a:rPr lang="en-GB" altLang="en-US" dirty="0"/>
              <a:t>Review</a:t>
            </a:r>
          </a:p>
        </p:txBody>
      </p:sp>
      <p:sp>
        <p:nvSpPr>
          <p:cNvPr id="5" name="Title 1">
            <a:extLst>
              <a:ext uri="{FF2B5EF4-FFF2-40B4-BE49-F238E27FC236}">
                <a16:creationId xmlns:a16="http://schemas.microsoft.com/office/drawing/2014/main" id="{44CA0919-5293-4A70-8F8F-6A8073BD6998}"/>
              </a:ext>
            </a:extLst>
          </p:cNvPr>
          <p:cNvSpPr txBox="1">
            <a:spLocks/>
          </p:cNvSpPr>
          <p:nvPr/>
        </p:nvSpPr>
        <p:spPr bwMode="auto">
          <a:xfrm>
            <a:off x="2135189" y="836712"/>
            <a:ext cx="7056437" cy="52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2pPr>
            <a:lvl3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3pPr>
            <a:lvl4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4pPr>
            <a:lvl5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5pPr>
            <a:lvl6pPr marL="457200" algn="l" rtl="0" fontAlgn="base">
              <a:spcBef>
                <a:spcPct val="0"/>
              </a:spcBef>
              <a:spcAft>
                <a:spcPct val="0"/>
              </a:spcAft>
              <a:defRPr sz="3600" b="1">
                <a:solidFill>
                  <a:schemeClr val="tx2"/>
                </a:solidFill>
                <a:latin typeface="Lucida Sans" pitchFamily="34" charset="0"/>
                <a:ea typeface="ＭＳ Ｐゴシック" pitchFamily="16" charset="-128"/>
              </a:defRPr>
            </a:lvl6pPr>
            <a:lvl7pPr marL="914400" algn="l" rtl="0" fontAlgn="base">
              <a:spcBef>
                <a:spcPct val="0"/>
              </a:spcBef>
              <a:spcAft>
                <a:spcPct val="0"/>
              </a:spcAft>
              <a:defRPr sz="3600" b="1">
                <a:solidFill>
                  <a:schemeClr val="tx2"/>
                </a:solidFill>
                <a:latin typeface="Lucida Sans" pitchFamily="34" charset="0"/>
                <a:ea typeface="ＭＳ Ｐゴシック" pitchFamily="16" charset="-128"/>
              </a:defRPr>
            </a:lvl7pPr>
            <a:lvl8pPr marL="1371600" algn="l" rtl="0" fontAlgn="base">
              <a:spcBef>
                <a:spcPct val="0"/>
              </a:spcBef>
              <a:spcAft>
                <a:spcPct val="0"/>
              </a:spcAft>
              <a:defRPr sz="3600" b="1">
                <a:solidFill>
                  <a:schemeClr val="tx2"/>
                </a:solidFill>
                <a:latin typeface="Lucida Sans" pitchFamily="34" charset="0"/>
                <a:ea typeface="ＭＳ Ｐゴシック" pitchFamily="16" charset="-128"/>
              </a:defRPr>
            </a:lvl8pPr>
            <a:lvl9pPr marL="1828800" algn="l" rtl="0" fontAlgn="base">
              <a:spcBef>
                <a:spcPct val="0"/>
              </a:spcBef>
              <a:spcAft>
                <a:spcPct val="0"/>
              </a:spcAft>
              <a:defRPr sz="3600" b="1">
                <a:solidFill>
                  <a:schemeClr val="tx2"/>
                </a:solidFill>
                <a:latin typeface="Lucida Sans" pitchFamily="34" charset="0"/>
                <a:ea typeface="ＭＳ Ｐゴシック" pitchFamily="16" charset="-128"/>
              </a:defRPr>
            </a:lvl9pPr>
          </a:lstStyle>
          <a:p>
            <a:pPr eaLnBrk="1" fontAlgn="auto" hangingPunct="1">
              <a:spcAft>
                <a:spcPts val="0"/>
              </a:spcAft>
              <a:defRPr/>
            </a:pPr>
            <a:r>
              <a:rPr lang="en-GB" altLang="en-US" dirty="0"/>
              <a:t>How to Assess Risk – 5 Steps</a:t>
            </a:r>
            <a:endParaRPr lang="en-GB" kern="0" dirty="0">
              <a:solidFill>
                <a:schemeClr val="tx2">
                  <a:lumMod val="40000"/>
                  <a:lumOff val="60000"/>
                </a:schemeClr>
              </a:solidFill>
            </a:endParaRPr>
          </a:p>
        </p:txBody>
      </p:sp>
    </p:spTree>
    <p:extLst>
      <p:ext uri="{BB962C8B-B14F-4D97-AF65-F5344CB8AC3E}">
        <p14:creationId xmlns:p14="http://schemas.microsoft.com/office/powerpoint/2010/main" val="255100553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a:extLst>
              <a:ext uri="{FF2B5EF4-FFF2-40B4-BE49-F238E27FC236}">
                <a16:creationId xmlns:a16="http://schemas.microsoft.com/office/drawing/2014/main" id="{6393712D-3AE3-4EDD-B0F6-4DD6D74A6481}"/>
              </a:ext>
            </a:extLst>
          </p:cNvPr>
          <p:cNvSpPr>
            <a:spLocks noGrp="1"/>
          </p:cNvSpPr>
          <p:nvPr>
            <p:ph idx="1"/>
          </p:nvPr>
        </p:nvSpPr>
        <p:spPr>
          <a:xfrm>
            <a:off x="2152637" y="2024844"/>
            <a:ext cx="7896238" cy="3852428"/>
          </a:xfrm>
        </p:spPr>
        <p:txBody>
          <a:bodyPr/>
          <a:lstStyle/>
          <a:p>
            <a:pPr marL="271145" indent="-271145"/>
            <a:r>
              <a:rPr lang="en-GB" altLang="en-US"/>
              <a:t>A Hazard has potential to cause harm (injury or ill health)</a:t>
            </a:r>
          </a:p>
          <a:p>
            <a:pPr marL="271145" indent="-271145"/>
            <a:r>
              <a:rPr lang="en-GB" altLang="en-US"/>
              <a:t>A Hazard event is when the hazard causes harm (or has the potential to).</a:t>
            </a:r>
          </a:p>
          <a:p>
            <a:pPr marL="271145" indent="-271145"/>
            <a:r>
              <a:rPr lang="en-GB" altLang="en-US"/>
              <a:t>A Hazard consequence is the nature &amp; extent of the harm caused by the hazard event.</a:t>
            </a:r>
          </a:p>
        </p:txBody>
      </p:sp>
      <p:sp>
        <p:nvSpPr>
          <p:cNvPr id="5" name="Title 1">
            <a:extLst>
              <a:ext uri="{FF2B5EF4-FFF2-40B4-BE49-F238E27FC236}">
                <a16:creationId xmlns:a16="http://schemas.microsoft.com/office/drawing/2014/main" id="{44CA0919-5293-4A70-8F8F-6A8073BD6998}"/>
              </a:ext>
            </a:extLst>
          </p:cNvPr>
          <p:cNvSpPr txBox="1">
            <a:spLocks/>
          </p:cNvSpPr>
          <p:nvPr/>
        </p:nvSpPr>
        <p:spPr bwMode="auto">
          <a:xfrm>
            <a:off x="2135189" y="836712"/>
            <a:ext cx="7056437" cy="52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2pPr>
            <a:lvl3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3pPr>
            <a:lvl4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4pPr>
            <a:lvl5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5pPr>
            <a:lvl6pPr marL="457200" algn="l" rtl="0" fontAlgn="base">
              <a:spcBef>
                <a:spcPct val="0"/>
              </a:spcBef>
              <a:spcAft>
                <a:spcPct val="0"/>
              </a:spcAft>
              <a:defRPr sz="3600" b="1">
                <a:solidFill>
                  <a:schemeClr val="tx2"/>
                </a:solidFill>
                <a:latin typeface="Lucida Sans" pitchFamily="34" charset="0"/>
                <a:ea typeface="ＭＳ Ｐゴシック" pitchFamily="16" charset="-128"/>
              </a:defRPr>
            </a:lvl6pPr>
            <a:lvl7pPr marL="914400" algn="l" rtl="0" fontAlgn="base">
              <a:spcBef>
                <a:spcPct val="0"/>
              </a:spcBef>
              <a:spcAft>
                <a:spcPct val="0"/>
              </a:spcAft>
              <a:defRPr sz="3600" b="1">
                <a:solidFill>
                  <a:schemeClr val="tx2"/>
                </a:solidFill>
                <a:latin typeface="Lucida Sans" pitchFamily="34" charset="0"/>
                <a:ea typeface="ＭＳ Ｐゴシック" pitchFamily="16" charset="-128"/>
              </a:defRPr>
            </a:lvl7pPr>
            <a:lvl8pPr marL="1371600" algn="l" rtl="0" fontAlgn="base">
              <a:spcBef>
                <a:spcPct val="0"/>
              </a:spcBef>
              <a:spcAft>
                <a:spcPct val="0"/>
              </a:spcAft>
              <a:defRPr sz="3600" b="1">
                <a:solidFill>
                  <a:schemeClr val="tx2"/>
                </a:solidFill>
                <a:latin typeface="Lucida Sans" pitchFamily="34" charset="0"/>
                <a:ea typeface="ＭＳ Ｐゴシック" pitchFamily="16" charset="-128"/>
              </a:defRPr>
            </a:lvl8pPr>
            <a:lvl9pPr marL="1828800" algn="l" rtl="0" fontAlgn="base">
              <a:spcBef>
                <a:spcPct val="0"/>
              </a:spcBef>
              <a:spcAft>
                <a:spcPct val="0"/>
              </a:spcAft>
              <a:defRPr sz="3600" b="1">
                <a:solidFill>
                  <a:schemeClr val="tx2"/>
                </a:solidFill>
                <a:latin typeface="Lucida Sans" pitchFamily="34" charset="0"/>
                <a:ea typeface="ＭＳ Ｐゴシック" pitchFamily="16" charset="-128"/>
              </a:defRPr>
            </a:lvl9pPr>
          </a:lstStyle>
          <a:p>
            <a:pPr eaLnBrk="1" fontAlgn="auto" hangingPunct="1">
              <a:spcAft>
                <a:spcPts val="0"/>
              </a:spcAft>
              <a:defRPr/>
            </a:pPr>
            <a:r>
              <a:rPr lang="en-GB" altLang="en-US" dirty="0"/>
              <a:t>How to assess risk - hazards </a:t>
            </a:r>
            <a:endParaRPr lang="en-GB" kern="0" dirty="0">
              <a:solidFill>
                <a:schemeClr val="tx2">
                  <a:lumMod val="40000"/>
                  <a:lumOff val="60000"/>
                </a:schemeClr>
              </a:solidFill>
            </a:endParaRPr>
          </a:p>
        </p:txBody>
      </p:sp>
    </p:spTree>
    <p:extLst>
      <p:ext uri="{BB962C8B-B14F-4D97-AF65-F5344CB8AC3E}">
        <p14:creationId xmlns:p14="http://schemas.microsoft.com/office/powerpoint/2010/main" val="206329004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a:extLst>
              <a:ext uri="{FF2B5EF4-FFF2-40B4-BE49-F238E27FC236}">
                <a16:creationId xmlns:a16="http://schemas.microsoft.com/office/drawing/2014/main" id="{6393712D-3AE3-4EDD-B0F6-4DD6D74A6481}"/>
              </a:ext>
            </a:extLst>
          </p:cNvPr>
          <p:cNvSpPr>
            <a:spLocks noGrp="1"/>
          </p:cNvSpPr>
          <p:nvPr>
            <p:ph idx="1"/>
          </p:nvPr>
        </p:nvSpPr>
        <p:spPr>
          <a:xfrm>
            <a:off x="2152637" y="2024844"/>
            <a:ext cx="8220088" cy="3852428"/>
          </a:xfrm>
        </p:spPr>
        <p:txBody>
          <a:bodyPr/>
          <a:lstStyle/>
          <a:p>
            <a:pPr marL="271145" indent="-271145"/>
            <a:r>
              <a:rPr lang="en-GB" altLang="en-US" dirty="0"/>
              <a:t>Who could be harmed?  </a:t>
            </a:r>
          </a:p>
          <a:p>
            <a:pPr marL="271145" indent="-271145"/>
            <a:r>
              <a:rPr lang="en-GB" altLang="en-US" dirty="0"/>
              <a:t>User, those nearby, those in the vicinity, the public.  </a:t>
            </a:r>
          </a:p>
          <a:p>
            <a:pPr marL="271145" indent="-271145"/>
            <a:r>
              <a:rPr lang="en-GB" altLang="en-US" dirty="0"/>
              <a:t>Don’t forget visitors &amp; cleaners</a:t>
            </a:r>
          </a:p>
          <a:p>
            <a:pPr marL="271145" indent="-271145"/>
            <a:r>
              <a:rPr lang="en-GB" altLang="en-US" dirty="0"/>
              <a:t>New &amp; expectant mothers, young persons and disabled persons have particular requirements. </a:t>
            </a:r>
          </a:p>
        </p:txBody>
      </p:sp>
      <p:sp>
        <p:nvSpPr>
          <p:cNvPr id="5" name="Title 1">
            <a:extLst>
              <a:ext uri="{FF2B5EF4-FFF2-40B4-BE49-F238E27FC236}">
                <a16:creationId xmlns:a16="http://schemas.microsoft.com/office/drawing/2014/main" id="{44CA0919-5293-4A70-8F8F-6A8073BD6998}"/>
              </a:ext>
            </a:extLst>
          </p:cNvPr>
          <p:cNvSpPr txBox="1">
            <a:spLocks/>
          </p:cNvSpPr>
          <p:nvPr/>
        </p:nvSpPr>
        <p:spPr bwMode="auto">
          <a:xfrm>
            <a:off x="2135189" y="836712"/>
            <a:ext cx="7056437" cy="52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2pPr>
            <a:lvl3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3pPr>
            <a:lvl4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4pPr>
            <a:lvl5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5pPr>
            <a:lvl6pPr marL="457200" algn="l" rtl="0" fontAlgn="base">
              <a:spcBef>
                <a:spcPct val="0"/>
              </a:spcBef>
              <a:spcAft>
                <a:spcPct val="0"/>
              </a:spcAft>
              <a:defRPr sz="3600" b="1">
                <a:solidFill>
                  <a:schemeClr val="tx2"/>
                </a:solidFill>
                <a:latin typeface="Lucida Sans" pitchFamily="34" charset="0"/>
                <a:ea typeface="ＭＳ Ｐゴシック" pitchFamily="16" charset="-128"/>
              </a:defRPr>
            </a:lvl6pPr>
            <a:lvl7pPr marL="914400" algn="l" rtl="0" fontAlgn="base">
              <a:spcBef>
                <a:spcPct val="0"/>
              </a:spcBef>
              <a:spcAft>
                <a:spcPct val="0"/>
              </a:spcAft>
              <a:defRPr sz="3600" b="1">
                <a:solidFill>
                  <a:schemeClr val="tx2"/>
                </a:solidFill>
                <a:latin typeface="Lucida Sans" pitchFamily="34" charset="0"/>
                <a:ea typeface="ＭＳ Ｐゴシック" pitchFamily="16" charset="-128"/>
              </a:defRPr>
            </a:lvl7pPr>
            <a:lvl8pPr marL="1371600" algn="l" rtl="0" fontAlgn="base">
              <a:spcBef>
                <a:spcPct val="0"/>
              </a:spcBef>
              <a:spcAft>
                <a:spcPct val="0"/>
              </a:spcAft>
              <a:defRPr sz="3600" b="1">
                <a:solidFill>
                  <a:schemeClr val="tx2"/>
                </a:solidFill>
                <a:latin typeface="Lucida Sans" pitchFamily="34" charset="0"/>
                <a:ea typeface="ＭＳ Ｐゴシック" pitchFamily="16" charset="-128"/>
              </a:defRPr>
            </a:lvl8pPr>
            <a:lvl9pPr marL="1828800" algn="l" rtl="0" fontAlgn="base">
              <a:spcBef>
                <a:spcPct val="0"/>
              </a:spcBef>
              <a:spcAft>
                <a:spcPct val="0"/>
              </a:spcAft>
              <a:defRPr sz="3600" b="1">
                <a:solidFill>
                  <a:schemeClr val="tx2"/>
                </a:solidFill>
                <a:latin typeface="Lucida Sans" pitchFamily="34" charset="0"/>
                <a:ea typeface="ＭＳ Ｐゴシック" pitchFamily="16" charset="-128"/>
              </a:defRPr>
            </a:lvl9pPr>
          </a:lstStyle>
          <a:p>
            <a:pPr eaLnBrk="1" fontAlgn="auto" hangingPunct="1">
              <a:spcAft>
                <a:spcPts val="0"/>
              </a:spcAft>
              <a:defRPr/>
            </a:pPr>
            <a:r>
              <a:rPr lang="en-GB" altLang="en-US"/>
              <a:t>How to Assess Risk - Who</a:t>
            </a:r>
            <a:endParaRPr lang="en-GB" kern="0">
              <a:solidFill>
                <a:schemeClr val="tx2">
                  <a:lumMod val="40000"/>
                  <a:lumOff val="60000"/>
                </a:schemeClr>
              </a:solidFill>
            </a:endParaRPr>
          </a:p>
        </p:txBody>
      </p:sp>
    </p:spTree>
    <p:extLst>
      <p:ext uri="{BB962C8B-B14F-4D97-AF65-F5344CB8AC3E}">
        <p14:creationId xmlns:p14="http://schemas.microsoft.com/office/powerpoint/2010/main" val="82528837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4CA0919-5293-4A70-8F8F-6A8073BD6998}"/>
              </a:ext>
            </a:extLst>
          </p:cNvPr>
          <p:cNvSpPr txBox="1">
            <a:spLocks/>
          </p:cNvSpPr>
          <p:nvPr/>
        </p:nvSpPr>
        <p:spPr bwMode="auto">
          <a:xfrm>
            <a:off x="3098357" y="859051"/>
            <a:ext cx="7056437" cy="52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2pPr>
            <a:lvl3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3pPr>
            <a:lvl4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4pPr>
            <a:lvl5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5pPr>
            <a:lvl6pPr marL="457200" algn="l" rtl="0" fontAlgn="base">
              <a:spcBef>
                <a:spcPct val="0"/>
              </a:spcBef>
              <a:spcAft>
                <a:spcPct val="0"/>
              </a:spcAft>
              <a:defRPr sz="3600" b="1">
                <a:solidFill>
                  <a:schemeClr val="tx2"/>
                </a:solidFill>
                <a:latin typeface="Lucida Sans" pitchFamily="34" charset="0"/>
                <a:ea typeface="ＭＳ Ｐゴシック" pitchFamily="16" charset="-128"/>
              </a:defRPr>
            </a:lvl6pPr>
            <a:lvl7pPr marL="914400" algn="l" rtl="0" fontAlgn="base">
              <a:spcBef>
                <a:spcPct val="0"/>
              </a:spcBef>
              <a:spcAft>
                <a:spcPct val="0"/>
              </a:spcAft>
              <a:defRPr sz="3600" b="1">
                <a:solidFill>
                  <a:schemeClr val="tx2"/>
                </a:solidFill>
                <a:latin typeface="Lucida Sans" pitchFamily="34" charset="0"/>
                <a:ea typeface="ＭＳ Ｐゴシック" pitchFamily="16" charset="-128"/>
              </a:defRPr>
            </a:lvl7pPr>
            <a:lvl8pPr marL="1371600" algn="l" rtl="0" fontAlgn="base">
              <a:spcBef>
                <a:spcPct val="0"/>
              </a:spcBef>
              <a:spcAft>
                <a:spcPct val="0"/>
              </a:spcAft>
              <a:defRPr sz="3600" b="1">
                <a:solidFill>
                  <a:schemeClr val="tx2"/>
                </a:solidFill>
                <a:latin typeface="Lucida Sans" pitchFamily="34" charset="0"/>
                <a:ea typeface="ＭＳ Ｐゴシック" pitchFamily="16" charset="-128"/>
              </a:defRPr>
            </a:lvl8pPr>
            <a:lvl9pPr marL="1828800" algn="l" rtl="0" fontAlgn="base">
              <a:spcBef>
                <a:spcPct val="0"/>
              </a:spcBef>
              <a:spcAft>
                <a:spcPct val="0"/>
              </a:spcAft>
              <a:defRPr sz="3600" b="1">
                <a:solidFill>
                  <a:schemeClr val="tx2"/>
                </a:solidFill>
                <a:latin typeface="Lucida Sans" pitchFamily="34" charset="0"/>
                <a:ea typeface="ＭＳ Ｐゴシック" pitchFamily="16" charset="-128"/>
              </a:defRPr>
            </a:lvl9pPr>
          </a:lstStyle>
          <a:p>
            <a:pPr marL="271145" indent="-271145" eaLnBrk="1" hangingPunct="1"/>
            <a:r>
              <a:rPr lang="en-GB" altLang="en-US" dirty="0"/>
              <a:t>What is risk assessment?</a:t>
            </a:r>
          </a:p>
        </p:txBody>
      </p:sp>
      <p:sp>
        <p:nvSpPr>
          <p:cNvPr id="7" name="Content Placeholder 2">
            <a:extLst>
              <a:ext uri="{FF2B5EF4-FFF2-40B4-BE49-F238E27FC236}">
                <a16:creationId xmlns:a16="http://schemas.microsoft.com/office/drawing/2014/main" id="{6393712D-3AE3-4EDD-B0F6-4DD6D74A6481}"/>
              </a:ext>
            </a:extLst>
          </p:cNvPr>
          <p:cNvSpPr txBox="1">
            <a:spLocks/>
          </p:cNvSpPr>
          <p:nvPr/>
        </p:nvSpPr>
        <p:spPr bwMode="auto">
          <a:xfrm>
            <a:off x="5413170" y="3322556"/>
            <a:ext cx="1365663" cy="1164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lvl1pPr marL="271463" indent="-271463" algn="l" rtl="0" eaLnBrk="0" fontAlgn="base" hangingPunct="0">
              <a:spcBef>
                <a:spcPct val="70000"/>
              </a:spcBef>
              <a:spcAft>
                <a:spcPct val="0"/>
              </a:spcAft>
              <a:buClr>
                <a:schemeClr val="tx2"/>
              </a:buClr>
              <a:buFont typeface="Wingdings" panose="05000000000000000000" pitchFamily="2" charset="2"/>
              <a:buChar char="§"/>
              <a:defRPr sz="3000">
                <a:solidFill>
                  <a:schemeClr val="tx1"/>
                </a:solidFill>
                <a:latin typeface="+mn-lt"/>
                <a:ea typeface="+mn-ea"/>
                <a:cs typeface="+mn-cs"/>
              </a:defRPr>
            </a:lvl1pPr>
            <a:lvl2pPr marL="809625" indent="-358775" algn="l" rtl="0" eaLnBrk="0" fontAlgn="base" hangingPunct="0">
              <a:lnSpc>
                <a:spcPct val="90000"/>
              </a:lnSpc>
              <a:spcBef>
                <a:spcPct val="30000"/>
              </a:spcBef>
              <a:spcAft>
                <a:spcPct val="0"/>
              </a:spcAft>
              <a:buClr>
                <a:schemeClr val="tx2"/>
              </a:buClr>
              <a:buFont typeface="Arial" panose="020B0604020202020204" pitchFamily="34" charset="0"/>
              <a:buChar char="–"/>
              <a:defRPr sz="2800">
                <a:solidFill>
                  <a:schemeClr val="tx1"/>
                </a:solidFill>
                <a:latin typeface="+mn-lt"/>
                <a:ea typeface="+mn-ea"/>
              </a:defRPr>
            </a:lvl2pPr>
            <a:lvl3pPr marL="1257300" indent="-268288" algn="l" rtl="0" eaLnBrk="0" fontAlgn="base" hangingPunct="0">
              <a:lnSpc>
                <a:spcPct val="90000"/>
              </a:lnSpc>
              <a:spcBef>
                <a:spcPct val="30000"/>
              </a:spcBef>
              <a:spcAft>
                <a:spcPct val="0"/>
              </a:spcAft>
              <a:buClr>
                <a:schemeClr val="tx2"/>
              </a:buClr>
              <a:buFont typeface="Symbol" panose="05050102010706020507" pitchFamily="18" charset="2"/>
              <a:buChar char="·"/>
              <a:defRPr sz="2400">
                <a:solidFill>
                  <a:schemeClr val="tx1"/>
                </a:solidFill>
                <a:latin typeface="+mn-lt"/>
                <a:ea typeface="+mn-ea"/>
              </a:defRPr>
            </a:lvl3pPr>
            <a:lvl4pPr marL="1704975" indent="-268288" algn="l" rtl="0" eaLnBrk="0" fontAlgn="base" hangingPunct="0">
              <a:lnSpc>
                <a:spcPct val="90000"/>
              </a:lnSpc>
              <a:spcBef>
                <a:spcPct val="30000"/>
              </a:spcBef>
              <a:spcAft>
                <a:spcPct val="0"/>
              </a:spcAft>
              <a:buClr>
                <a:schemeClr val="tx2"/>
              </a:buClr>
              <a:buFont typeface="Arial" panose="020B0604020202020204" pitchFamily="34" charset="0"/>
              <a:buChar char="–"/>
              <a:defRPr sz="2000">
                <a:solidFill>
                  <a:schemeClr val="tx1"/>
                </a:solidFill>
                <a:latin typeface="+mn-lt"/>
                <a:ea typeface="+mn-ea"/>
              </a:defRPr>
            </a:lvl4pPr>
            <a:lvl5pPr marL="2152650" indent="-268288" algn="l" rtl="0" eaLnBrk="0" fontAlgn="base" hangingPunct="0">
              <a:lnSpc>
                <a:spcPct val="90000"/>
              </a:lnSpc>
              <a:spcBef>
                <a:spcPct val="30000"/>
              </a:spcBef>
              <a:spcAft>
                <a:spcPct val="0"/>
              </a:spcAft>
              <a:buClr>
                <a:schemeClr val="tx2"/>
              </a:buClr>
              <a:buFont typeface="Arial" panose="020B0604020202020204" pitchFamily="34" charset="0"/>
              <a:buChar char="»"/>
              <a:defRPr sz="2000">
                <a:solidFill>
                  <a:schemeClr val="tx1"/>
                </a:solidFill>
                <a:latin typeface="+mn-lt"/>
                <a:ea typeface="+mn-ea"/>
              </a:defRPr>
            </a:lvl5pPr>
            <a:lvl6pPr marL="26098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6pPr>
            <a:lvl7pPr marL="30670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7pPr>
            <a:lvl8pPr marL="35242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8pPr>
            <a:lvl9pPr marL="39814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9pPr>
          </a:lstStyle>
          <a:p>
            <a:pPr marL="0" indent="0" algn="ctr" eaLnBrk="1" hangingPunct="1">
              <a:buNone/>
            </a:pPr>
            <a:r>
              <a:rPr lang="en-GB" altLang="en-US" sz="5500" kern="0"/>
              <a:t>=</a:t>
            </a:r>
          </a:p>
        </p:txBody>
      </p:sp>
      <p:sp>
        <p:nvSpPr>
          <p:cNvPr id="8" name="Content Placeholder 2">
            <a:extLst>
              <a:ext uri="{FF2B5EF4-FFF2-40B4-BE49-F238E27FC236}">
                <a16:creationId xmlns:a16="http://schemas.microsoft.com/office/drawing/2014/main" id="{6393712D-3AE3-4EDD-B0F6-4DD6D74A6481}"/>
              </a:ext>
            </a:extLst>
          </p:cNvPr>
          <p:cNvSpPr txBox="1">
            <a:spLocks/>
          </p:cNvSpPr>
          <p:nvPr/>
        </p:nvSpPr>
        <p:spPr bwMode="auto">
          <a:xfrm>
            <a:off x="1524000" y="2073662"/>
            <a:ext cx="9144000" cy="1164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lvl1pPr marL="271463" indent="-271463" algn="l" rtl="0" eaLnBrk="0" fontAlgn="base" hangingPunct="0">
              <a:spcBef>
                <a:spcPct val="70000"/>
              </a:spcBef>
              <a:spcAft>
                <a:spcPct val="0"/>
              </a:spcAft>
              <a:buClr>
                <a:schemeClr val="tx2"/>
              </a:buClr>
              <a:buFont typeface="Wingdings" panose="05000000000000000000" pitchFamily="2" charset="2"/>
              <a:buChar char="§"/>
              <a:defRPr sz="3000">
                <a:solidFill>
                  <a:schemeClr val="tx1"/>
                </a:solidFill>
                <a:latin typeface="+mn-lt"/>
                <a:ea typeface="+mn-ea"/>
                <a:cs typeface="+mn-cs"/>
              </a:defRPr>
            </a:lvl1pPr>
            <a:lvl2pPr marL="809625" indent="-358775" algn="l" rtl="0" eaLnBrk="0" fontAlgn="base" hangingPunct="0">
              <a:lnSpc>
                <a:spcPct val="90000"/>
              </a:lnSpc>
              <a:spcBef>
                <a:spcPct val="30000"/>
              </a:spcBef>
              <a:spcAft>
                <a:spcPct val="0"/>
              </a:spcAft>
              <a:buClr>
                <a:schemeClr val="tx2"/>
              </a:buClr>
              <a:buFont typeface="Arial" panose="020B0604020202020204" pitchFamily="34" charset="0"/>
              <a:buChar char="–"/>
              <a:defRPr sz="2800">
                <a:solidFill>
                  <a:schemeClr val="tx1"/>
                </a:solidFill>
                <a:latin typeface="+mn-lt"/>
                <a:ea typeface="+mn-ea"/>
              </a:defRPr>
            </a:lvl2pPr>
            <a:lvl3pPr marL="1257300" indent="-268288" algn="l" rtl="0" eaLnBrk="0" fontAlgn="base" hangingPunct="0">
              <a:lnSpc>
                <a:spcPct val="90000"/>
              </a:lnSpc>
              <a:spcBef>
                <a:spcPct val="30000"/>
              </a:spcBef>
              <a:spcAft>
                <a:spcPct val="0"/>
              </a:spcAft>
              <a:buClr>
                <a:schemeClr val="tx2"/>
              </a:buClr>
              <a:buFont typeface="Symbol" panose="05050102010706020507" pitchFamily="18" charset="2"/>
              <a:buChar char="·"/>
              <a:defRPr sz="2400">
                <a:solidFill>
                  <a:schemeClr val="tx1"/>
                </a:solidFill>
                <a:latin typeface="+mn-lt"/>
                <a:ea typeface="+mn-ea"/>
              </a:defRPr>
            </a:lvl3pPr>
            <a:lvl4pPr marL="1704975" indent="-268288" algn="l" rtl="0" eaLnBrk="0" fontAlgn="base" hangingPunct="0">
              <a:lnSpc>
                <a:spcPct val="90000"/>
              </a:lnSpc>
              <a:spcBef>
                <a:spcPct val="30000"/>
              </a:spcBef>
              <a:spcAft>
                <a:spcPct val="0"/>
              </a:spcAft>
              <a:buClr>
                <a:schemeClr val="tx2"/>
              </a:buClr>
              <a:buFont typeface="Arial" panose="020B0604020202020204" pitchFamily="34" charset="0"/>
              <a:buChar char="–"/>
              <a:defRPr sz="2000">
                <a:solidFill>
                  <a:schemeClr val="tx1"/>
                </a:solidFill>
                <a:latin typeface="+mn-lt"/>
                <a:ea typeface="+mn-ea"/>
              </a:defRPr>
            </a:lvl4pPr>
            <a:lvl5pPr marL="2152650" indent="-268288" algn="l" rtl="0" eaLnBrk="0" fontAlgn="base" hangingPunct="0">
              <a:lnSpc>
                <a:spcPct val="90000"/>
              </a:lnSpc>
              <a:spcBef>
                <a:spcPct val="30000"/>
              </a:spcBef>
              <a:spcAft>
                <a:spcPct val="0"/>
              </a:spcAft>
              <a:buClr>
                <a:schemeClr val="tx2"/>
              </a:buClr>
              <a:buFont typeface="Arial" panose="020B0604020202020204" pitchFamily="34" charset="0"/>
              <a:buChar char="»"/>
              <a:defRPr sz="2000">
                <a:solidFill>
                  <a:schemeClr val="tx1"/>
                </a:solidFill>
                <a:latin typeface="+mn-lt"/>
                <a:ea typeface="+mn-ea"/>
              </a:defRPr>
            </a:lvl5pPr>
            <a:lvl6pPr marL="26098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6pPr>
            <a:lvl7pPr marL="30670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7pPr>
            <a:lvl8pPr marL="35242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8pPr>
            <a:lvl9pPr marL="39814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9pPr>
          </a:lstStyle>
          <a:p>
            <a:pPr marL="0" indent="0" algn="ctr" eaLnBrk="1" hangingPunct="1">
              <a:buNone/>
            </a:pPr>
            <a:r>
              <a:rPr lang="en-GB" altLang="en-US" sz="5500" kern="0" dirty="0"/>
              <a:t>Risk</a:t>
            </a:r>
          </a:p>
        </p:txBody>
      </p:sp>
      <p:sp>
        <p:nvSpPr>
          <p:cNvPr id="9" name="Content Placeholder 2">
            <a:extLst>
              <a:ext uri="{FF2B5EF4-FFF2-40B4-BE49-F238E27FC236}">
                <a16:creationId xmlns:a16="http://schemas.microsoft.com/office/drawing/2014/main" id="{6393712D-3AE3-4EDD-B0F6-4DD6D74A6481}"/>
              </a:ext>
            </a:extLst>
          </p:cNvPr>
          <p:cNvSpPr txBox="1">
            <a:spLocks/>
          </p:cNvSpPr>
          <p:nvPr/>
        </p:nvSpPr>
        <p:spPr bwMode="auto">
          <a:xfrm>
            <a:off x="1524000" y="4571450"/>
            <a:ext cx="9144000" cy="1164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lvl1pPr marL="271463" indent="-271463" algn="l" rtl="0" eaLnBrk="0" fontAlgn="base" hangingPunct="0">
              <a:spcBef>
                <a:spcPct val="70000"/>
              </a:spcBef>
              <a:spcAft>
                <a:spcPct val="0"/>
              </a:spcAft>
              <a:buClr>
                <a:schemeClr val="tx2"/>
              </a:buClr>
              <a:buFont typeface="Wingdings" panose="05000000000000000000" pitchFamily="2" charset="2"/>
              <a:buChar char="§"/>
              <a:defRPr sz="3000">
                <a:solidFill>
                  <a:schemeClr val="tx1"/>
                </a:solidFill>
                <a:latin typeface="+mn-lt"/>
                <a:ea typeface="+mn-ea"/>
                <a:cs typeface="+mn-cs"/>
              </a:defRPr>
            </a:lvl1pPr>
            <a:lvl2pPr marL="809625" indent="-358775" algn="l" rtl="0" eaLnBrk="0" fontAlgn="base" hangingPunct="0">
              <a:lnSpc>
                <a:spcPct val="90000"/>
              </a:lnSpc>
              <a:spcBef>
                <a:spcPct val="30000"/>
              </a:spcBef>
              <a:spcAft>
                <a:spcPct val="0"/>
              </a:spcAft>
              <a:buClr>
                <a:schemeClr val="tx2"/>
              </a:buClr>
              <a:buFont typeface="Arial" panose="020B0604020202020204" pitchFamily="34" charset="0"/>
              <a:buChar char="–"/>
              <a:defRPr sz="2800">
                <a:solidFill>
                  <a:schemeClr val="tx1"/>
                </a:solidFill>
                <a:latin typeface="+mn-lt"/>
                <a:ea typeface="+mn-ea"/>
              </a:defRPr>
            </a:lvl2pPr>
            <a:lvl3pPr marL="1257300" indent="-268288" algn="l" rtl="0" eaLnBrk="0" fontAlgn="base" hangingPunct="0">
              <a:lnSpc>
                <a:spcPct val="90000"/>
              </a:lnSpc>
              <a:spcBef>
                <a:spcPct val="30000"/>
              </a:spcBef>
              <a:spcAft>
                <a:spcPct val="0"/>
              </a:spcAft>
              <a:buClr>
                <a:schemeClr val="tx2"/>
              </a:buClr>
              <a:buFont typeface="Symbol" panose="05050102010706020507" pitchFamily="18" charset="2"/>
              <a:buChar char="·"/>
              <a:defRPr sz="2400">
                <a:solidFill>
                  <a:schemeClr val="tx1"/>
                </a:solidFill>
                <a:latin typeface="+mn-lt"/>
                <a:ea typeface="+mn-ea"/>
              </a:defRPr>
            </a:lvl3pPr>
            <a:lvl4pPr marL="1704975" indent="-268288" algn="l" rtl="0" eaLnBrk="0" fontAlgn="base" hangingPunct="0">
              <a:lnSpc>
                <a:spcPct val="90000"/>
              </a:lnSpc>
              <a:spcBef>
                <a:spcPct val="30000"/>
              </a:spcBef>
              <a:spcAft>
                <a:spcPct val="0"/>
              </a:spcAft>
              <a:buClr>
                <a:schemeClr val="tx2"/>
              </a:buClr>
              <a:buFont typeface="Arial" panose="020B0604020202020204" pitchFamily="34" charset="0"/>
              <a:buChar char="–"/>
              <a:defRPr sz="2000">
                <a:solidFill>
                  <a:schemeClr val="tx1"/>
                </a:solidFill>
                <a:latin typeface="+mn-lt"/>
                <a:ea typeface="+mn-ea"/>
              </a:defRPr>
            </a:lvl4pPr>
            <a:lvl5pPr marL="2152650" indent="-268288" algn="l" rtl="0" eaLnBrk="0" fontAlgn="base" hangingPunct="0">
              <a:lnSpc>
                <a:spcPct val="90000"/>
              </a:lnSpc>
              <a:spcBef>
                <a:spcPct val="30000"/>
              </a:spcBef>
              <a:spcAft>
                <a:spcPct val="0"/>
              </a:spcAft>
              <a:buClr>
                <a:schemeClr val="tx2"/>
              </a:buClr>
              <a:buFont typeface="Arial" panose="020B0604020202020204" pitchFamily="34" charset="0"/>
              <a:buChar char="»"/>
              <a:defRPr sz="2000">
                <a:solidFill>
                  <a:schemeClr val="tx1"/>
                </a:solidFill>
                <a:latin typeface="+mn-lt"/>
                <a:ea typeface="+mn-ea"/>
              </a:defRPr>
            </a:lvl5pPr>
            <a:lvl6pPr marL="26098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6pPr>
            <a:lvl7pPr marL="30670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7pPr>
            <a:lvl8pPr marL="35242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8pPr>
            <a:lvl9pPr marL="3981450" indent="-268288" algn="l" rtl="0" fontAlgn="base">
              <a:lnSpc>
                <a:spcPct val="90000"/>
              </a:lnSpc>
              <a:spcBef>
                <a:spcPct val="30000"/>
              </a:spcBef>
              <a:spcAft>
                <a:spcPct val="0"/>
              </a:spcAft>
              <a:buClr>
                <a:schemeClr val="tx2"/>
              </a:buClr>
              <a:buFont typeface="Arial" charset="0"/>
              <a:buChar char="»"/>
              <a:defRPr sz="2000">
                <a:solidFill>
                  <a:schemeClr val="tx1"/>
                </a:solidFill>
                <a:latin typeface="+mn-lt"/>
                <a:ea typeface="+mn-ea"/>
              </a:defRPr>
            </a:lvl9pPr>
          </a:lstStyle>
          <a:p>
            <a:pPr marL="0" indent="0" algn="ctr" eaLnBrk="1" hangingPunct="1">
              <a:buNone/>
            </a:pPr>
            <a:r>
              <a:rPr lang="en-GB" altLang="en-US" sz="5500" kern="0" dirty="0"/>
              <a:t>Likelihood x Impact</a:t>
            </a:r>
          </a:p>
        </p:txBody>
      </p:sp>
    </p:spTree>
    <p:extLst>
      <p:ext uri="{BB962C8B-B14F-4D97-AF65-F5344CB8AC3E}">
        <p14:creationId xmlns:p14="http://schemas.microsoft.com/office/powerpoint/2010/main" val="33671802"/>
      </p:ext>
    </p:extLst>
  </p:cSld>
  <p:clrMapOvr>
    <a:masterClrMapping/>
  </p:clrMapOvr>
  <p:transition/>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4CA0919-5293-4A70-8F8F-6A8073BD6998}"/>
              </a:ext>
            </a:extLst>
          </p:cNvPr>
          <p:cNvSpPr txBox="1">
            <a:spLocks/>
          </p:cNvSpPr>
          <p:nvPr/>
        </p:nvSpPr>
        <p:spPr bwMode="auto">
          <a:xfrm>
            <a:off x="2135189" y="836712"/>
            <a:ext cx="7056437" cy="52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2pPr>
            <a:lvl3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3pPr>
            <a:lvl4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4pPr>
            <a:lvl5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5pPr>
            <a:lvl6pPr marL="457200" algn="l" rtl="0" fontAlgn="base">
              <a:spcBef>
                <a:spcPct val="0"/>
              </a:spcBef>
              <a:spcAft>
                <a:spcPct val="0"/>
              </a:spcAft>
              <a:defRPr sz="3600" b="1">
                <a:solidFill>
                  <a:schemeClr val="tx2"/>
                </a:solidFill>
                <a:latin typeface="Lucida Sans" pitchFamily="34" charset="0"/>
                <a:ea typeface="ＭＳ Ｐゴシック" pitchFamily="16" charset="-128"/>
              </a:defRPr>
            </a:lvl6pPr>
            <a:lvl7pPr marL="914400" algn="l" rtl="0" fontAlgn="base">
              <a:spcBef>
                <a:spcPct val="0"/>
              </a:spcBef>
              <a:spcAft>
                <a:spcPct val="0"/>
              </a:spcAft>
              <a:defRPr sz="3600" b="1">
                <a:solidFill>
                  <a:schemeClr val="tx2"/>
                </a:solidFill>
                <a:latin typeface="Lucida Sans" pitchFamily="34" charset="0"/>
                <a:ea typeface="ＭＳ Ｐゴシック" pitchFamily="16" charset="-128"/>
              </a:defRPr>
            </a:lvl7pPr>
            <a:lvl8pPr marL="1371600" algn="l" rtl="0" fontAlgn="base">
              <a:spcBef>
                <a:spcPct val="0"/>
              </a:spcBef>
              <a:spcAft>
                <a:spcPct val="0"/>
              </a:spcAft>
              <a:defRPr sz="3600" b="1">
                <a:solidFill>
                  <a:schemeClr val="tx2"/>
                </a:solidFill>
                <a:latin typeface="Lucida Sans" pitchFamily="34" charset="0"/>
                <a:ea typeface="ＭＳ Ｐゴシック" pitchFamily="16" charset="-128"/>
              </a:defRPr>
            </a:lvl8pPr>
            <a:lvl9pPr marL="1828800" algn="l" rtl="0" fontAlgn="base">
              <a:spcBef>
                <a:spcPct val="0"/>
              </a:spcBef>
              <a:spcAft>
                <a:spcPct val="0"/>
              </a:spcAft>
              <a:defRPr sz="3600" b="1">
                <a:solidFill>
                  <a:schemeClr val="tx2"/>
                </a:solidFill>
                <a:latin typeface="Lucida Sans" pitchFamily="34" charset="0"/>
                <a:ea typeface="ＭＳ Ｐゴシック" pitchFamily="16" charset="-128"/>
              </a:defRPr>
            </a:lvl9pPr>
          </a:lstStyle>
          <a:p>
            <a:pPr marL="271145" indent="-271145" eaLnBrk="1" hangingPunct="1"/>
            <a:r>
              <a:rPr lang="en-GB" altLang="en-US"/>
              <a:t>How to Assess Risk - Evaluate</a:t>
            </a:r>
          </a:p>
        </p:txBody>
      </p:sp>
      <p:sp>
        <p:nvSpPr>
          <p:cNvPr id="6" name="Content Placeholder 2">
            <a:extLst>
              <a:ext uri="{FF2B5EF4-FFF2-40B4-BE49-F238E27FC236}">
                <a16:creationId xmlns:a16="http://schemas.microsoft.com/office/drawing/2014/main" id="{7EBD9674-DC24-4228-8644-0344F069FDB0}"/>
              </a:ext>
            </a:extLst>
          </p:cNvPr>
          <p:cNvSpPr>
            <a:spLocks noGrp="1"/>
          </p:cNvSpPr>
          <p:nvPr>
            <p:ph idx="1"/>
          </p:nvPr>
        </p:nvSpPr>
        <p:spPr>
          <a:xfrm>
            <a:off x="2152637" y="2024844"/>
            <a:ext cx="7896238" cy="3852428"/>
          </a:xfrm>
        </p:spPr>
        <p:txBody>
          <a:bodyPr/>
          <a:lstStyle/>
          <a:p>
            <a:pPr marL="271145" indent="-271145"/>
            <a:r>
              <a:rPr lang="en-GB" altLang="en-US" dirty="0">
                <a:solidFill>
                  <a:srgbClr val="FF0000"/>
                </a:solidFill>
              </a:rPr>
              <a:t>Inherent risk </a:t>
            </a:r>
            <a:r>
              <a:rPr lang="en-GB" altLang="en-US" dirty="0"/>
              <a:t>– evaluation of risk without </a:t>
            </a:r>
            <a:r>
              <a:rPr lang="en-GB" altLang="en-US" u="sng" dirty="0"/>
              <a:t>ANY</a:t>
            </a:r>
            <a:r>
              <a:rPr lang="en-GB" altLang="en-US" dirty="0"/>
              <a:t> controls. </a:t>
            </a:r>
          </a:p>
          <a:p>
            <a:pPr marL="271145" indent="-271145"/>
            <a:r>
              <a:rPr lang="en-GB" altLang="en-US" dirty="0">
                <a:solidFill>
                  <a:srgbClr val="92D050"/>
                </a:solidFill>
              </a:rPr>
              <a:t>Residual risk</a:t>
            </a:r>
            <a:r>
              <a:rPr lang="en-GB" altLang="en-US" dirty="0"/>
              <a:t>  - evaluation of the risk with controls in place. </a:t>
            </a:r>
          </a:p>
        </p:txBody>
      </p:sp>
    </p:spTree>
    <p:extLst>
      <p:ext uri="{BB962C8B-B14F-4D97-AF65-F5344CB8AC3E}">
        <p14:creationId xmlns:p14="http://schemas.microsoft.com/office/powerpoint/2010/main" val="318884803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7CEA7-B393-4AA7-EAE4-F8D3A313B6C7}"/>
              </a:ext>
            </a:extLst>
          </p:cNvPr>
          <p:cNvSpPr>
            <a:spLocks noGrp="1"/>
          </p:cNvSpPr>
          <p:nvPr>
            <p:ph type="title"/>
          </p:nvPr>
        </p:nvSpPr>
        <p:spPr/>
        <p:txBody>
          <a:bodyPr/>
          <a:lstStyle/>
          <a:p>
            <a:r>
              <a:rPr lang="en-GB" dirty="0"/>
              <a:t>Control Measures </a:t>
            </a:r>
          </a:p>
        </p:txBody>
      </p:sp>
      <p:sp>
        <p:nvSpPr>
          <p:cNvPr id="3" name="Content Placeholder 2">
            <a:extLst>
              <a:ext uri="{FF2B5EF4-FFF2-40B4-BE49-F238E27FC236}">
                <a16:creationId xmlns:a16="http://schemas.microsoft.com/office/drawing/2014/main" id="{E08585C4-63D2-B243-9E8D-F0E3E0AFF5A2}"/>
              </a:ext>
            </a:extLst>
          </p:cNvPr>
          <p:cNvSpPr>
            <a:spLocks noGrp="1"/>
          </p:cNvSpPr>
          <p:nvPr>
            <p:ph idx="1"/>
          </p:nvPr>
        </p:nvSpPr>
        <p:spPr>
          <a:xfrm>
            <a:off x="710184" y="1690688"/>
            <a:ext cx="10515600" cy="4351338"/>
          </a:xfrm>
        </p:spPr>
        <p:txBody>
          <a:bodyPr/>
          <a:lstStyle/>
          <a:p>
            <a:r>
              <a:rPr lang="en-GB" dirty="0"/>
              <a:t>Use control measure hierarchy </a:t>
            </a:r>
          </a:p>
        </p:txBody>
      </p:sp>
      <p:graphicFrame>
        <p:nvGraphicFramePr>
          <p:cNvPr id="4" name="Table 3">
            <a:extLst>
              <a:ext uri="{FF2B5EF4-FFF2-40B4-BE49-F238E27FC236}">
                <a16:creationId xmlns:a16="http://schemas.microsoft.com/office/drawing/2014/main" id="{495A1E84-D179-5493-CD42-3B158E8DF355}"/>
              </a:ext>
            </a:extLst>
          </p:cNvPr>
          <p:cNvGraphicFramePr>
            <a:graphicFrameLocks noGrp="1"/>
          </p:cNvGraphicFramePr>
          <p:nvPr>
            <p:extLst>
              <p:ext uri="{D42A27DB-BD31-4B8C-83A1-F6EECF244321}">
                <p14:modId xmlns:p14="http://schemas.microsoft.com/office/powerpoint/2010/main" val="159891486"/>
              </p:ext>
            </p:extLst>
          </p:nvPr>
        </p:nvGraphicFramePr>
        <p:xfrm>
          <a:off x="838200" y="2715006"/>
          <a:ext cx="10957560" cy="3067647"/>
        </p:xfrm>
        <a:graphic>
          <a:graphicData uri="http://schemas.openxmlformats.org/drawingml/2006/table">
            <a:tbl>
              <a:tblPr/>
              <a:tblGrid>
                <a:gridCol w="1811880">
                  <a:extLst>
                    <a:ext uri="{9D8B030D-6E8A-4147-A177-3AD203B41FA5}">
                      <a16:colId xmlns:a16="http://schemas.microsoft.com/office/drawing/2014/main" val="2843891736"/>
                    </a:ext>
                  </a:extLst>
                </a:gridCol>
                <a:gridCol w="2825670">
                  <a:extLst>
                    <a:ext uri="{9D8B030D-6E8A-4147-A177-3AD203B41FA5}">
                      <a16:colId xmlns:a16="http://schemas.microsoft.com/office/drawing/2014/main" val="2606928168"/>
                    </a:ext>
                  </a:extLst>
                </a:gridCol>
                <a:gridCol w="2620755">
                  <a:extLst>
                    <a:ext uri="{9D8B030D-6E8A-4147-A177-3AD203B41FA5}">
                      <a16:colId xmlns:a16="http://schemas.microsoft.com/office/drawing/2014/main" val="348110791"/>
                    </a:ext>
                  </a:extLst>
                </a:gridCol>
                <a:gridCol w="3699255">
                  <a:extLst>
                    <a:ext uri="{9D8B030D-6E8A-4147-A177-3AD203B41FA5}">
                      <a16:colId xmlns:a16="http://schemas.microsoft.com/office/drawing/2014/main" val="1029303297"/>
                    </a:ext>
                  </a:extLst>
                </a:gridCol>
              </a:tblGrid>
              <a:tr h="678072">
                <a:tc>
                  <a:txBody>
                    <a:bodyPr/>
                    <a:lstStyle/>
                    <a:p>
                      <a:pPr algn="l" rtl="0" fontAlgn="base">
                        <a:buFont typeface="+mj-lt"/>
                        <a:buAutoNum type="arabicPeriod"/>
                      </a:pPr>
                      <a:r>
                        <a:rPr lang="en-GB" sz="1400" b="0" i="0">
                          <a:effectLst/>
                          <a:latin typeface="Lucida Sans" panose="020B0602030504020204" pitchFamily="34" charset="0"/>
                        </a:rPr>
                        <a:t>Eliminate </a:t>
                      </a:r>
                      <a:endParaRPr lang="en-GB" sz="1400" b="0" i="0">
                        <a:effectLst/>
                        <a:latin typeface="Calibri" panose="020F0502020204030204" pitchFamily="34" charset="0"/>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rtl="0" fontAlgn="base"/>
                      <a:r>
                        <a:rPr lang="en-GB" sz="1400" b="0" i="0">
                          <a:effectLst/>
                          <a:latin typeface="Lucida Sans" panose="020B0602030504020204" pitchFamily="34" charset="0"/>
                        </a:rPr>
                        <a:t>Remove the hazard wherever possible which negates the need for further controls </a:t>
                      </a:r>
                      <a:endParaRPr lang="en-GB" sz="1400" b="0" i="0">
                        <a:effectLs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rtl="0" fontAlgn="base"/>
                      <a:r>
                        <a:rPr lang="en-GB" sz="1400" b="0" i="0">
                          <a:effectLst/>
                          <a:latin typeface="Lucida Sans" panose="020B0602030504020204" pitchFamily="34" charset="0"/>
                        </a:rPr>
                        <a:t>If this is not possible then explain why </a:t>
                      </a:r>
                      <a:endParaRPr lang="en-GB" sz="1400" b="0" i="0">
                        <a:effectLs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rowSpan="5">
                  <a:txBody>
                    <a:bodyPr/>
                    <a:lstStyle/>
                    <a:p>
                      <a:pPr algn="l" rtl="0" fontAlgn="base"/>
                      <a:r>
                        <a:rPr lang="en-GB" sz="1200" b="0" i="0">
                          <a:effectLst/>
                          <a:latin typeface="Calibri" panose="020F0502020204030204" pitchFamily="34" charset="0"/>
                        </a:rPr>
                        <a:t> </a:t>
                      </a: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42966126"/>
                  </a:ext>
                </a:extLst>
              </a:tr>
              <a:tr h="494810">
                <a:tc>
                  <a:txBody>
                    <a:bodyPr/>
                    <a:lstStyle/>
                    <a:p>
                      <a:pPr algn="l" rtl="0" fontAlgn="base">
                        <a:buFont typeface="+mj-lt"/>
                        <a:buAutoNum type="arabicPeriod" startAt="2"/>
                      </a:pPr>
                      <a:r>
                        <a:rPr lang="en-GB" sz="1400" b="0" i="0">
                          <a:effectLst/>
                          <a:latin typeface="Lucida Sans" panose="020B0602030504020204" pitchFamily="34" charset="0"/>
                        </a:rPr>
                        <a:t>Substitute </a:t>
                      </a:r>
                      <a:endParaRPr lang="en-GB" sz="1400" b="0" i="0">
                        <a:effectLst/>
                        <a:latin typeface="Calibri" panose="020F0502020204030204" pitchFamily="34" charset="0"/>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rtl="0" fontAlgn="base"/>
                      <a:r>
                        <a:rPr lang="en-GB" sz="1400" b="0" i="0">
                          <a:effectLst/>
                          <a:latin typeface="Lucida Sans" panose="020B0602030504020204" pitchFamily="34" charset="0"/>
                        </a:rPr>
                        <a:t>Replace the hazard with one less hazardous </a:t>
                      </a:r>
                      <a:endParaRPr lang="en-GB" sz="1400" b="0" i="0">
                        <a:effectLs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rtl="0" fontAlgn="base"/>
                      <a:r>
                        <a:rPr lang="en-GB" sz="1400" b="0" i="0">
                          <a:effectLst/>
                          <a:latin typeface="Lucida Sans" panose="020B0602030504020204" pitchFamily="34" charset="0"/>
                        </a:rPr>
                        <a:t>If not possible then explain why </a:t>
                      </a:r>
                      <a:endParaRPr lang="en-GB" sz="1400" b="0" i="0">
                        <a:effectLs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597757255"/>
                  </a:ext>
                </a:extLst>
              </a:tr>
              <a:tr h="645085">
                <a:tc>
                  <a:txBody>
                    <a:bodyPr/>
                    <a:lstStyle/>
                    <a:p>
                      <a:pPr algn="l" rtl="0" fontAlgn="base">
                        <a:buFont typeface="+mj-lt"/>
                        <a:buAutoNum type="arabicPeriod" startAt="3"/>
                      </a:pPr>
                      <a:r>
                        <a:rPr lang="en-GB" sz="1400" b="0" i="0">
                          <a:effectLst/>
                          <a:latin typeface="Lucida Sans" panose="020B0602030504020204" pitchFamily="34" charset="0"/>
                        </a:rPr>
                        <a:t>Physical controls </a:t>
                      </a:r>
                      <a:endParaRPr lang="en-GB" sz="1400" b="0" i="0">
                        <a:effectLst/>
                        <a:latin typeface="Calibri" panose="020F0502020204030204" pitchFamily="34" charset="0"/>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rtl="0" fontAlgn="base"/>
                      <a:r>
                        <a:rPr lang="en-GB" sz="1400" b="0" i="0">
                          <a:effectLst/>
                          <a:latin typeface="Lucida Sans" panose="020B0602030504020204" pitchFamily="34" charset="0"/>
                        </a:rPr>
                        <a:t>Examples: enclosure, fume cupboard, glove box </a:t>
                      </a:r>
                      <a:endParaRPr lang="en-GB" sz="1400" b="0" i="0">
                        <a:effectLs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rtl="0" fontAlgn="base"/>
                      <a:r>
                        <a:rPr lang="en-GB" sz="1400" b="0" i="0">
                          <a:effectLst/>
                          <a:latin typeface="Lucida Sans" panose="020B0602030504020204" pitchFamily="34" charset="0"/>
                        </a:rPr>
                        <a:t>Likely to still require admin controls as well </a:t>
                      </a:r>
                      <a:endParaRPr lang="en-GB" sz="1400" b="0" i="0">
                        <a:effectLs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845505309"/>
                  </a:ext>
                </a:extLst>
              </a:tr>
              <a:tr h="527797">
                <a:tc>
                  <a:txBody>
                    <a:bodyPr/>
                    <a:lstStyle/>
                    <a:p>
                      <a:pPr algn="l" rtl="0" fontAlgn="base">
                        <a:buFont typeface="+mj-lt"/>
                        <a:buAutoNum type="arabicPeriod" startAt="4"/>
                      </a:pPr>
                      <a:r>
                        <a:rPr lang="en-GB" sz="1400" b="0" i="0">
                          <a:effectLst/>
                          <a:latin typeface="Lucida Sans" panose="020B0602030504020204" pitchFamily="34" charset="0"/>
                        </a:rPr>
                        <a:t>Admin controls </a:t>
                      </a:r>
                      <a:endParaRPr lang="en-GB" sz="1400" b="0" i="0">
                        <a:effectLst/>
                        <a:latin typeface="Calibri" panose="020F0502020204030204" pitchFamily="34" charset="0"/>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rtl="0" fontAlgn="base"/>
                      <a:r>
                        <a:rPr lang="en-GB" sz="1400" b="0" i="0">
                          <a:effectLst/>
                          <a:latin typeface="Lucida Sans" panose="020B0602030504020204" pitchFamily="34" charset="0"/>
                        </a:rPr>
                        <a:t>Examples: training, supervision, signage </a:t>
                      </a:r>
                      <a:endParaRPr lang="en-GB" sz="1400" b="0" i="0">
                        <a:effectLs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rtl="0" fontAlgn="base"/>
                      <a:r>
                        <a:rPr lang="en-GB" sz="1400" b="0" i="0">
                          <a:effectLst/>
                          <a:latin typeface="Calibri" panose="020F0502020204030204" pitchFamily="34" charset="0"/>
                        </a:rPr>
                        <a:t> </a:t>
                      </a: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45566555"/>
                  </a:ext>
                </a:extLst>
              </a:tr>
              <a:tr h="645085">
                <a:tc>
                  <a:txBody>
                    <a:bodyPr/>
                    <a:lstStyle/>
                    <a:p>
                      <a:pPr algn="l" rtl="0" fontAlgn="base">
                        <a:buFont typeface="+mj-lt"/>
                        <a:buAutoNum type="arabicPeriod" startAt="5"/>
                      </a:pPr>
                      <a:r>
                        <a:rPr lang="en-GB" sz="1400" b="0" i="0">
                          <a:effectLst/>
                          <a:latin typeface="Lucida Sans" panose="020B0602030504020204" pitchFamily="34" charset="0"/>
                        </a:rPr>
                        <a:t>Personal protection </a:t>
                      </a: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rtl="0" fontAlgn="base"/>
                      <a:r>
                        <a:rPr lang="en-GB" sz="1400" b="0" i="0" dirty="0">
                          <a:effectLst/>
                          <a:latin typeface="Lucida Sans" panose="020B0602030504020204" pitchFamily="34" charset="0"/>
                        </a:rPr>
                        <a:t>Examples: respirators, safety specs, gloves </a:t>
                      </a:r>
                      <a:endParaRPr lang="en-GB" sz="1400" b="0" i="0" dirty="0">
                        <a:effectLs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algn="l" rtl="0" fontAlgn="base"/>
                      <a:r>
                        <a:rPr lang="en-GB" sz="1400" b="0" i="0" dirty="0">
                          <a:effectLst/>
                          <a:latin typeface="Lucida Sans" panose="020B0602030504020204" pitchFamily="34" charset="0"/>
                        </a:rPr>
                        <a:t>Last resort as it only protects the individual </a:t>
                      </a:r>
                      <a:endParaRPr lang="en-GB" sz="1400" b="0" i="0" dirty="0">
                        <a:effectLs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34861336"/>
                  </a:ext>
                </a:extLst>
              </a:tr>
            </a:tbl>
          </a:graphicData>
        </a:graphic>
      </p:graphicFrame>
      <p:pic>
        <p:nvPicPr>
          <p:cNvPr id="1025" name="Picture 1">
            <a:extLst>
              <a:ext uri="{FF2B5EF4-FFF2-40B4-BE49-F238E27FC236}">
                <a16:creationId xmlns:a16="http://schemas.microsoft.com/office/drawing/2014/main" id="{43C6987E-62DC-2D3F-9A23-62CC6C7977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3483" y="2853198"/>
            <a:ext cx="3560175" cy="2314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5146284"/>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0D1DF-0FA6-D92C-F548-A0CBA8506E25}"/>
              </a:ext>
            </a:extLst>
          </p:cNvPr>
          <p:cNvSpPr>
            <a:spLocks noGrp="1"/>
          </p:cNvSpPr>
          <p:nvPr>
            <p:ph type="title"/>
          </p:nvPr>
        </p:nvSpPr>
        <p:spPr/>
        <p:txBody>
          <a:bodyPr/>
          <a:lstStyle/>
          <a:p>
            <a:r>
              <a:rPr lang="en-GB" dirty="0"/>
              <a:t>The Approved Way to do a Risk Assessment</a:t>
            </a:r>
          </a:p>
        </p:txBody>
      </p:sp>
      <p:sp>
        <p:nvSpPr>
          <p:cNvPr id="4" name="TextBox 3">
            <a:extLst>
              <a:ext uri="{FF2B5EF4-FFF2-40B4-BE49-F238E27FC236}">
                <a16:creationId xmlns:a16="http://schemas.microsoft.com/office/drawing/2014/main" id="{176FE965-DCC8-988A-DF50-252CA32CC4B1}"/>
              </a:ext>
            </a:extLst>
          </p:cNvPr>
          <p:cNvSpPr txBox="1"/>
          <p:nvPr/>
        </p:nvSpPr>
        <p:spPr>
          <a:xfrm>
            <a:off x="5275385" y="2419643"/>
            <a:ext cx="1196738" cy="369332"/>
          </a:xfrm>
          <a:prstGeom prst="rect">
            <a:avLst/>
          </a:prstGeom>
          <a:noFill/>
        </p:spPr>
        <p:txBody>
          <a:bodyPr wrap="none" rtlCol="0">
            <a:spAutoFit/>
          </a:bodyPr>
          <a:lstStyle/>
          <a:p>
            <a:r>
              <a:rPr lang="en-GB" dirty="0"/>
              <a:t>Paperwork</a:t>
            </a:r>
          </a:p>
        </p:txBody>
      </p:sp>
      <p:pic>
        <p:nvPicPr>
          <p:cNvPr id="3" name="Picture 2" descr="A screenshot of a cell phone&#10;&#10;Description generated with very high confidence">
            <a:extLst>
              <a:ext uri="{FF2B5EF4-FFF2-40B4-BE49-F238E27FC236}">
                <a16:creationId xmlns:a16="http://schemas.microsoft.com/office/drawing/2014/main" id="{57A87467-A6BB-6D79-FA85-7A2252315574}"/>
              </a:ext>
            </a:extLst>
          </p:cNvPr>
          <p:cNvPicPr>
            <a:picLocks noChangeAspect="1"/>
          </p:cNvPicPr>
          <p:nvPr/>
        </p:nvPicPr>
        <p:blipFill>
          <a:blip r:embed="rId4"/>
          <a:stretch>
            <a:fillRect/>
          </a:stretch>
        </p:blipFill>
        <p:spPr>
          <a:xfrm>
            <a:off x="838200" y="1364379"/>
            <a:ext cx="10515600" cy="5292506"/>
          </a:xfrm>
          <a:prstGeom prst="rect">
            <a:avLst/>
          </a:prstGeom>
        </p:spPr>
      </p:pic>
    </p:spTree>
    <p:extLst>
      <p:ext uri="{BB962C8B-B14F-4D97-AF65-F5344CB8AC3E}">
        <p14:creationId xmlns:p14="http://schemas.microsoft.com/office/powerpoint/2010/main" val="2900316087"/>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3AFF0-AFD7-C967-D23D-DB5C81533A2F}"/>
              </a:ext>
            </a:extLst>
          </p:cNvPr>
          <p:cNvSpPr>
            <a:spLocks noGrp="1"/>
          </p:cNvSpPr>
          <p:nvPr>
            <p:ph type="title"/>
          </p:nvPr>
        </p:nvSpPr>
        <p:spPr/>
        <p:txBody>
          <a:bodyPr/>
          <a:lstStyle/>
          <a:p>
            <a:r>
              <a:rPr lang="en-GB" dirty="0"/>
              <a:t>Risk Matrix</a:t>
            </a:r>
          </a:p>
        </p:txBody>
      </p:sp>
      <p:sp>
        <p:nvSpPr>
          <p:cNvPr id="4" name="TextBox 3">
            <a:extLst>
              <a:ext uri="{FF2B5EF4-FFF2-40B4-BE49-F238E27FC236}">
                <a16:creationId xmlns:a16="http://schemas.microsoft.com/office/drawing/2014/main" id="{6395CACA-9349-137F-1FAA-CEC680946054}"/>
              </a:ext>
            </a:extLst>
          </p:cNvPr>
          <p:cNvSpPr txBox="1"/>
          <p:nvPr/>
        </p:nvSpPr>
        <p:spPr>
          <a:xfrm>
            <a:off x="1037771" y="4949709"/>
            <a:ext cx="10316029" cy="923330"/>
          </a:xfrm>
          <a:prstGeom prst="rect">
            <a:avLst/>
          </a:prstGeom>
          <a:noFill/>
        </p:spPr>
        <p:txBody>
          <a:bodyPr wrap="none" rtlCol="0">
            <a:spAutoFit/>
          </a:bodyPr>
          <a:lstStyle/>
          <a:p>
            <a:r>
              <a:rPr lang="en-GB" dirty="0">
                <a:solidFill>
                  <a:srgbClr val="FF0000"/>
                </a:solidFill>
              </a:rPr>
              <a:t>Red </a:t>
            </a:r>
            <a:r>
              <a:rPr lang="en-GB" dirty="0"/>
              <a:t>– Don’t proceed until risk reduced. </a:t>
            </a:r>
          </a:p>
          <a:p>
            <a:r>
              <a:rPr lang="en-GB" dirty="0">
                <a:solidFill>
                  <a:srgbClr val="FFC000"/>
                </a:solidFill>
              </a:rPr>
              <a:t>Orange</a:t>
            </a:r>
            <a:r>
              <a:rPr lang="en-GB" dirty="0"/>
              <a:t> - possible to proceed but further control measures should be implemented  to reduce risk if possible</a:t>
            </a:r>
          </a:p>
          <a:p>
            <a:r>
              <a:rPr lang="en-GB" dirty="0">
                <a:solidFill>
                  <a:srgbClr val="00B050"/>
                </a:solidFill>
              </a:rPr>
              <a:t>Green</a:t>
            </a:r>
            <a:r>
              <a:rPr lang="en-GB" dirty="0"/>
              <a:t> – may proceed. </a:t>
            </a:r>
          </a:p>
        </p:txBody>
      </p:sp>
      <p:graphicFrame>
        <p:nvGraphicFramePr>
          <p:cNvPr id="5" name="Table 4">
            <a:extLst>
              <a:ext uri="{FF2B5EF4-FFF2-40B4-BE49-F238E27FC236}">
                <a16:creationId xmlns:a16="http://schemas.microsoft.com/office/drawing/2014/main" id="{1FEFABF6-9E0C-42DC-1EE7-5E8611852ADC}"/>
              </a:ext>
            </a:extLst>
          </p:cNvPr>
          <p:cNvGraphicFramePr>
            <a:graphicFrameLocks noGrp="1"/>
          </p:cNvGraphicFramePr>
          <p:nvPr>
            <p:extLst>
              <p:ext uri="{D42A27DB-BD31-4B8C-83A1-F6EECF244321}">
                <p14:modId xmlns:p14="http://schemas.microsoft.com/office/powerpoint/2010/main" val="1137231152"/>
              </p:ext>
            </p:extLst>
          </p:nvPr>
        </p:nvGraphicFramePr>
        <p:xfrm>
          <a:off x="2962656" y="1446625"/>
          <a:ext cx="4459032" cy="3056100"/>
        </p:xfrm>
        <a:graphic>
          <a:graphicData uri="http://schemas.openxmlformats.org/drawingml/2006/table">
            <a:tbl>
              <a:tblPr/>
              <a:tblGrid>
                <a:gridCol w="251599">
                  <a:extLst>
                    <a:ext uri="{9D8B030D-6E8A-4147-A177-3AD203B41FA5}">
                      <a16:colId xmlns:a16="http://schemas.microsoft.com/office/drawing/2014/main" val="581175316"/>
                    </a:ext>
                  </a:extLst>
                </a:gridCol>
                <a:gridCol w="952170">
                  <a:extLst>
                    <a:ext uri="{9D8B030D-6E8A-4147-A177-3AD203B41FA5}">
                      <a16:colId xmlns:a16="http://schemas.microsoft.com/office/drawing/2014/main" val="4001666097"/>
                    </a:ext>
                  </a:extLst>
                </a:gridCol>
                <a:gridCol w="644271">
                  <a:extLst>
                    <a:ext uri="{9D8B030D-6E8A-4147-A177-3AD203B41FA5}">
                      <a16:colId xmlns:a16="http://schemas.microsoft.com/office/drawing/2014/main" val="2224006452"/>
                    </a:ext>
                  </a:extLst>
                </a:gridCol>
                <a:gridCol w="644271">
                  <a:extLst>
                    <a:ext uri="{9D8B030D-6E8A-4147-A177-3AD203B41FA5}">
                      <a16:colId xmlns:a16="http://schemas.microsoft.com/office/drawing/2014/main" val="813795538"/>
                    </a:ext>
                  </a:extLst>
                </a:gridCol>
                <a:gridCol w="644271">
                  <a:extLst>
                    <a:ext uri="{9D8B030D-6E8A-4147-A177-3AD203B41FA5}">
                      <a16:colId xmlns:a16="http://schemas.microsoft.com/office/drawing/2014/main" val="452124333"/>
                    </a:ext>
                  </a:extLst>
                </a:gridCol>
                <a:gridCol w="661225">
                  <a:extLst>
                    <a:ext uri="{9D8B030D-6E8A-4147-A177-3AD203B41FA5}">
                      <a16:colId xmlns:a16="http://schemas.microsoft.com/office/drawing/2014/main" val="2453695427"/>
                    </a:ext>
                  </a:extLst>
                </a:gridCol>
                <a:gridCol w="661225">
                  <a:extLst>
                    <a:ext uri="{9D8B030D-6E8A-4147-A177-3AD203B41FA5}">
                      <a16:colId xmlns:a16="http://schemas.microsoft.com/office/drawing/2014/main" val="434781738"/>
                    </a:ext>
                  </a:extLst>
                </a:gridCol>
              </a:tblGrid>
              <a:tr h="509350">
                <a:tc rowSpan="5">
                  <a:txBody>
                    <a:bodyPr/>
                    <a:lstStyle/>
                    <a:p>
                      <a:pPr algn="ctr" rtl="0" fontAlgn="base"/>
                      <a:r>
                        <a:rPr lang="en-GB" sz="1400" b="1" i="0">
                          <a:solidFill>
                            <a:srgbClr val="000000"/>
                          </a:solidFill>
                          <a:effectLst/>
                          <a:latin typeface="Calibri" panose="020F0502020204030204" pitchFamily="34" charset="0"/>
                        </a:rPr>
                        <a:t>LIKELIHOOD</a:t>
                      </a:r>
                      <a:r>
                        <a:rPr lang="en-GB" sz="1400" b="0" i="0">
                          <a:solidFill>
                            <a:srgbClr val="000000"/>
                          </a:solidFill>
                          <a:effectLst/>
                          <a:latin typeface="Calibri" panose="020F0502020204030204" pitchFamily="34" charset="0"/>
                        </a:rPr>
                        <a:t> </a:t>
                      </a:r>
                      <a:endParaRPr lang="en-GB" sz="1400" b="0" i="0">
                        <a:effectLst/>
                      </a:endParaRPr>
                    </a:p>
                  </a:txBody>
                  <a:tcPr>
                    <a:lnL>
                      <a:noFill/>
                    </a:lnL>
                    <a:lnR>
                      <a:noFill/>
                    </a:lnR>
                    <a:lnT>
                      <a:noFill/>
                    </a:lnT>
                    <a:lnB>
                      <a:noFill/>
                    </a:lnB>
                    <a:solidFill>
                      <a:srgbClr val="FFFFFF"/>
                    </a:solidFill>
                  </a:tcPr>
                </a:tc>
                <a:tc>
                  <a:txBody>
                    <a:bodyPr/>
                    <a:lstStyle/>
                    <a:p>
                      <a:pPr algn="ctr" rtl="0" fontAlgn="base"/>
                      <a:r>
                        <a:rPr lang="en-GB" sz="1400" b="0" i="0">
                          <a:solidFill>
                            <a:srgbClr val="000000"/>
                          </a:solidFill>
                          <a:effectLst/>
                          <a:latin typeface="Calibri" panose="020F0502020204030204" pitchFamily="34" charset="0"/>
                        </a:rPr>
                        <a:t>5 </a:t>
                      </a:r>
                      <a:endParaRPr lang="en-GB" sz="1400" b="0" i="0">
                        <a:effectLst/>
                      </a:endParaRPr>
                    </a:p>
                  </a:txBody>
                  <a:tcPr anchor="ctr">
                    <a:lnL>
                      <a:noFill/>
                    </a:lnL>
                    <a:lnR w="9525" cap="flat" cmpd="sng" algn="ctr">
                      <a:solidFill>
                        <a:schemeClr val="bg1"/>
                      </a:solidFill>
                      <a:prstDash val="solid"/>
                      <a:round/>
                      <a:headEnd type="none" w="med" len="med"/>
                      <a:tailEnd type="none" w="med" len="med"/>
                    </a:lnR>
                    <a:lnT>
                      <a:noFill/>
                    </a:lnT>
                    <a:lnB>
                      <a:noFill/>
                    </a:lnB>
                    <a:solidFill>
                      <a:srgbClr val="FFFFFF"/>
                    </a:solidFill>
                  </a:tcPr>
                </a:tc>
                <a:tc>
                  <a:txBody>
                    <a:bodyPr/>
                    <a:lstStyle/>
                    <a:p>
                      <a:pPr algn="ctr" rtl="0" fontAlgn="base"/>
                      <a:r>
                        <a:rPr lang="en-GB" sz="1400" b="0" i="0">
                          <a:solidFill>
                            <a:srgbClr val="000000"/>
                          </a:solidFill>
                          <a:effectLst/>
                          <a:latin typeface="Calibri" panose="020F0502020204030204" pitchFamily="34" charset="0"/>
                        </a:rPr>
                        <a:t>5 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C000"/>
                    </a:solidFill>
                  </a:tcPr>
                </a:tc>
                <a:tc>
                  <a:txBody>
                    <a:bodyPr/>
                    <a:lstStyle/>
                    <a:p>
                      <a:pPr algn="ctr" rtl="0" fontAlgn="base"/>
                      <a:r>
                        <a:rPr lang="en-GB" sz="1400" b="0" i="0">
                          <a:solidFill>
                            <a:srgbClr val="000000"/>
                          </a:solidFill>
                          <a:effectLst/>
                          <a:latin typeface="Calibri" panose="020F0502020204030204" pitchFamily="34" charset="0"/>
                        </a:rPr>
                        <a:t>10 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C000"/>
                    </a:solidFill>
                  </a:tcPr>
                </a:tc>
                <a:tc>
                  <a:txBody>
                    <a:bodyPr/>
                    <a:lstStyle/>
                    <a:p>
                      <a:pPr algn="ctr" rtl="0" fontAlgn="base"/>
                      <a:r>
                        <a:rPr lang="en-GB" sz="1400" b="0" i="0">
                          <a:solidFill>
                            <a:srgbClr val="000000"/>
                          </a:solidFill>
                          <a:effectLst/>
                          <a:latin typeface="Calibri" panose="020F0502020204030204" pitchFamily="34" charset="0"/>
                        </a:rPr>
                        <a:t>15 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0000"/>
                    </a:solidFill>
                  </a:tcPr>
                </a:tc>
                <a:tc>
                  <a:txBody>
                    <a:bodyPr/>
                    <a:lstStyle/>
                    <a:p>
                      <a:pPr algn="ctr" rtl="0" fontAlgn="base"/>
                      <a:r>
                        <a:rPr lang="en-GB" sz="1400" b="0" i="0">
                          <a:solidFill>
                            <a:srgbClr val="000000"/>
                          </a:solidFill>
                          <a:effectLst/>
                          <a:latin typeface="Calibri" panose="020F0502020204030204" pitchFamily="34" charset="0"/>
                        </a:rPr>
                        <a:t>20 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0000"/>
                    </a:solidFill>
                  </a:tcPr>
                </a:tc>
                <a:tc>
                  <a:txBody>
                    <a:bodyPr/>
                    <a:lstStyle/>
                    <a:p>
                      <a:pPr algn="ctr" rtl="0" fontAlgn="base"/>
                      <a:r>
                        <a:rPr lang="en-GB" sz="1400" b="0" i="0">
                          <a:solidFill>
                            <a:srgbClr val="000000"/>
                          </a:solidFill>
                          <a:effectLst/>
                          <a:latin typeface="Calibri" panose="020F0502020204030204" pitchFamily="34" charset="0"/>
                        </a:rPr>
                        <a:t>25 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3442429530"/>
                  </a:ext>
                </a:extLst>
              </a:tr>
              <a:tr h="509350">
                <a:tc vMerge="1">
                  <a:txBody>
                    <a:bodyPr/>
                    <a:lstStyle/>
                    <a:p>
                      <a:endParaRPr lang="en-GB"/>
                    </a:p>
                  </a:txBody>
                  <a:tcPr/>
                </a:tc>
                <a:tc>
                  <a:txBody>
                    <a:bodyPr/>
                    <a:lstStyle/>
                    <a:p>
                      <a:pPr algn="ctr" rtl="0" fontAlgn="base"/>
                      <a:r>
                        <a:rPr lang="en-GB" sz="1400" b="0" i="0">
                          <a:solidFill>
                            <a:srgbClr val="000000"/>
                          </a:solidFill>
                          <a:effectLst/>
                          <a:latin typeface="Calibri" panose="020F0502020204030204" pitchFamily="34" charset="0"/>
                        </a:rPr>
                        <a:t>4 </a:t>
                      </a:r>
                      <a:endParaRPr lang="en-GB" sz="1400" b="0" i="0">
                        <a:effectLst/>
                      </a:endParaRPr>
                    </a:p>
                  </a:txBody>
                  <a:tcPr anchor="ctr">
                    <a:lnL>
                      <a:noFill/>
                    </a:lnL>
                    <a:lnR w="9525" cap="flat" cmpd="sng" algn="ctr">
                      <a:solidFill>
                        <a:schemeClr val="bg1"/>
                      </a:solidFill>
                      <a:prstDash val="solid"/>
                      <a:round/>
                      <a:headEnd type="none" w="med" len="med"/>
                      <a:tailEnd type="none" w="med" len="med"/>
                    </a:lnR>
                    <a:lnT>
                      <a:noFill/>
                    </a:lnT>
                    <a:lnB>
                      <a:noFill/>
                    </a:lnB>
                    <a:solidFill>
                      <a:srgbClr val="FFFFFF"/>
                    </a:solidFill>
                  </a:tcPr>
                </a:tc>
                <a:tc>
                  <a:txBody>
                    <a:bodyPr/>
                    <a:lstStyle/>
                    <a:p>
                      <a:pPr algn="ctr" rtl="0" fontAlgn="base"/>
                      <a:r>
                        <a:rPr lang="en-GB" sz="1400" b="0" i="0" dirty="0">
                          <a:solidFill>
                            <a:srgbClr val="000000"/>
                          </a:solidFill>
                          <a:effectLst/>
                          <a:latin typeface="Calibri" panose="020F0502020204030204" pitchFamily="34" charset="0"/>
                        </a:rPr>
                        <a:t>4 </a:t>
                      </a:r>
                      <a:endParaRPr lang="en-GB" sz="1400" b="0" i="0" dirty="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92D050"/>
                    </a:solidFill>
                  </a:tcPr>
                </a:tc>
                <a:tc>
                  <a:txBody>
                    <a:bodyPr/>
                    <a:lstStyle/>
                    <a:p>
                      <a:pPr algn="ctr" rtl="0" fontAlgn="base"/>
                      <a:r>
                        <a:rPr lang="en-GB" sz="1400" b="0" i="0">
                          <a:solidFill>
                            <a:srgbClr val="000000"/>
                          </a:solidFill>
                          <a:effectLst/>
                          <a:latin typeface="Calibri" panose="020F0502020204030204" pitchFamily="34" charset="0"/>
                        </a:rPr>
                        <a:t>8 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C000"/>
                    </a:solidFill>
                  </a:tcPr>
                </a:tc>
                <a:tc>
                  <a:txBody>
                    <a:bodyPr/>
                    <a:lstStyle/>
                    <a:p>
                      <a:pPr algn="ctr" rtl="0" fontAlgn="base"/>
                      <a:r>
                        <a:rPr lang="en-GB" sz="1400" b="0" i="0">
                          <a:solidFill>
                            <a:srgbClr val="000000"/>
                          </a:solidFill>
                          <a:effectLst/>
                          <a:latin typeface="Calibri" panose="020F0502020204030204" pitchFamily="34" charset="0"/>
                        </a:rPr>
                        <a:t>12 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C000"/>
                    </a:solidFill>
                  </a:tcPr>
                </a:tc>
                <a:tc>
                  <a:txBody>
                    <a:bodyPr/>
                    <a:lstStyle/>
                    <a:p>
                      <a:pPr algn="ctr" rtl="0" fontAlgn="base"/>
                      <a:r>
                        <a:rPr lang="en-GB" sz="1400" b="0" i="0">
                          <a:solidFill>
                            <a:srgbClr val="000000"/>
                          </a:solidFill>
                          <a:effectLst/>
                          <a:latin typeface="Calibri" panose="020F0502020204030204" pitchFamily="34" charset="0"/>
                        </a:rPr>
                        <a:t>16 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0000"/>
                    </a:solidFill>
                  </a:tcPr>
                </a:tc>
                <a:tc>
                  <a:txBody>
                    <a:bodyPr/>
                    <a:lstStyle/>
                    <a:p>
                      <a:pPr algn="ctr" rtl="0" fontAlgn="base"/>
                      <a:r>
                        <a:rPr lang="en-GB" sz="1400" b="0" i="0">
                          <a:solidFill>
                            <a:srgbClr val="000000"/>
                          </a:solidFill>
                          <a:effectLst/>
                          <a:latin typeface="Calibri" panose="020F0502020204030204" pitchFamily="34" charset="0"/>
                        </a:rPr>
                        <a:t>20 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1023008439"/>
                  </a:ext>
                </a:extLst>
              </a:tr>
              <a:tr h="509350">
                <a:tc vMerge="1">
                  <a:txBody>
                    <a:bodyPr/>
                    <a:lstStyle/>
                    <a:p>
                      <a:endParaRPr lang="en-GB"/>
                    </a:p>
                  </a:txBody>
                  <a:tcPr/>
                </a:tc>
                <a:tc>
                  <a:txBody>
                    <a:bodyPr/>
                    <a:lstStyle/>
                    <a:p>
                      <a:pPr algn="ctr" rtl="0" fontAlgn="base"/>
                      <a:r>
                        <a:rPr lang="en-GB" sz="1400" b="0" i="0">
                          <a:solidFill>
                            <a:srgbClr val="000000"/>
                          </a:solidFill>
                          <a:effectLst/>
                          <a:latin typeface="Calibri" panose="020F0502020204030204" pitchFamily="34" charset="0"/>
                        </a:rPr>
                        <a:t>3 </a:t>
                      </a:r>
                      <a:endParaRPr lang="en-GB" sz="1400" b="0" i="0">
                        <a:effectLst/>
                      </a:endParaRPr>
                    </a:p>
                  </a:txBody>
                  <a:tcPr anchor="ctr">
                    <a:lnL>
                      <a:noFill/>
                    </a:lnL>
                    <a:lnR w="9525" cap="flat" cmpd="sng" algn="ctr">
                      <a:solidFill>
                        <a:schemeClr val="bg1"/>
                      </a:solidFill>
                      <a:prstDash val="solid"/>
                      <a:round/>
                      <a:headEnd type="none" w="med" len="med"/>
                      <a:tailEnd type="none" w="med" len="med"/>
                    </a:lnR>
                    <a:lnT>
                      <a:noFill/>
                    </a:lnT>
                    <a:lnB>
                      <a:noFill/>
                    </a:lnB>
                    <a:solidFill>
                      <a:srgbClr val="FFFFFF"/>
                    </a:solidFill>
                  </a:tcPr>
                </a:tc>
                <a:tc>
                  <a:txBody>
                    <a:bodyPr/>
                    <a:lstStyle/>
                    <a:p>
                      <a:pPr algn="ctr" rtl="0" fontAlgn="base"/>
                      <a:r>
                        <a:rPr lang="en-GB" sz="1400" b="0" i="0">
                          <a:solidFill>
                            <a:srgbClr val="000000"/>
                          </a:solidFill>
                          <a:effectLst/>
                          <a:latin typeface="Calibri" panose="020F0502020204030204" pitchFamily="34" charset="0"/>
                        </a:rPr>
                        <a:t>3 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92D050"/>
                    </a:solidFill>
                  </a:tcPr>
                </a:tc>
                <a:tc>
                  <a:txBody>
                    <a:bodyPr/>
                    <a:lstStyle/>
                    <a:p>
                      <a:pPr algn="ctr" rtl="0" fontAlgn="base"/>
                      <a:r>
                        <a:rPr lang="en-GB" sz="1400" b="0" i="0">
                          <a:solidFill>
                            <a:srgbClr val="000000"/>
                          </a:solidFill>
                          <a:effectLst/>
                          <a:latin typeface="Calibri" panose="020F0502020204030204" pitchFamily="34" charset="0"/>
                        </a:rPr>
                        <a:t>6 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C000"/>
                    </a:solidFill>
                  </a:tcPr>
                </a:tc>
                <a:tc>
                  <a:txBody>
                    <a:bodyPr/>
                    <a:lstStyle/>
                    <a:p>
                      <a:pPr algn="ctr" rtl="0" fontAlgn="base"/>
                      <a:r>
                        <a:rPr lang="en-GB" sz="1400" b="0" i="0">
                          <a:solidFill>
                            <a:srgbClr val="000000"/>
                          </a:solidFill>
                          <a:effectLst/>
                          <a:latin typeface="Calibri" panose="020F0502020204030204" pitchFamily="34" charset="0"/>
                        </a:rPr>
                        <a:t>9 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C000"/>
                    </a:solidFill>
                  </a:tcPr>
                </a:tc>
                <a:tc>
                  <a:txBody>
                    <a:bodyPr/>
                    <a:lstStyle/>
                    <a:p>
                      <a:pPr algn="ctr" rtl="0" fontAlgn="base"/>
                      <a:r>
                        <a:rPr lang="en-GB" sz="1400" b="0" i="0">
                          <a:solidFill>
                            <a:srgbClr val="000000"/>
                          </a:solidFill>
                          <a:effectLst/>
                          <a:latin typeface="Calibri" panose="020F0502020204030204" pitchFamily="34" charset="0"/>
                        </a:rPr>
                        <a:t>12 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C000"/>
                    </a:solidFill>
                  </a:tcPr>
                </a:tc>
                <a:tc>
                  <a:txBody>
                    <a:bodyPr/>
                    <a:lstStyle/>
                    <a:p>
                      <a:pPr algn="ctr" rtl="0" fontAlgn="base"/>
                      <a:r>
                        <a:rPr lang="en-GB" sz="1400" b="0" i="0">
                          <a:solidFill>
                            <a:srgbClr val="000000"/>
                          </a:solidFill>
                          <a:effectLst/>
                          <a:latin typeface="Calibri" panose="020F0502020204030204" pitchFamily="34" charset="0"/>
                        </a:rPr>
                        <a:t>15 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1800157372"/>
                  </a:ext>
                </a:extLst>
              </a:tr>
              <a:tr h="509350">
                <a:tc vMerge="1">
                  <a:txBody>
                    <a:bodyPr/>
                    <a:lstStyle/>
                    <a:p>
                      <a:endParaRPr lang="en-GB"/>
                    </a:p>
                  </a:txBody>
                  <a:tcPr/>
                </a:tc>
                <a:tc>
                  <a:txBody>
                    <a:bodyPr/>
                    <a:lstStyle/>
                    <a:p>
                      <a:pPr algn="ctr" rtl="0" fontAlgn="base"/>
                      <a:r>
                        <a:rPr lang="en-GB" sz="1400" b="0" i="0">
                          <a:solidFill>
                            <a:srgbClr val="000000"/>
                          </a:solidFill>
                          <a:effectLst/>
                          <a:latin typeface="Calibri" panose="020F0502020204030204" pitchFamily="34" charset="0"/>
                        </a:rPr>
                        <a:t>2 </a:t>
                      </a:r>
                      <a:endParaRPr lang="en-GB" sz="1400" b="0" i="0">
                        <a:effectLst/>
                      </a:endParaRPr>
                    </a:p>
                  </a:txBody>
                  <a:tcPr anchor="ctr">
                    <a:lnL>
                      <a:noFill/>
                    </a:lnL>
                    <a:lnR w="9525" cap="flat" cmpd="sng" algn="ctr">
                      <a:solidFill>
                        <a:schemeClr val="bg1"/>
                      </a:solidFill>
                      <a:prstDash val="solid"/>
                      <a:round/>
                      <a:headEnd type="none" w="med" len="med"/>
                      <a:tailEnd type="none" w="med" len="med"/>
                    </a:lnR>
                    <a:lnT>
                      <a:noFill/>
                    </a:lnT>
                    <a:lnB>
                      <a:noFill/>
                    </a:lnB>
                    <a:solidFill>
                      <a:srgbClr val="FFFFFF"/>
                    </a:solidFill>
                  </a:tcPr>
                </a:tc>
                <a:tc>
                  <a:txBody>
                    <a:bodyPr/>
                    <a:lstStyle/>
                    <a:p>
                      <a:pPr algn="ctr" rtl="0" fontAlgn="base"/>
                      <a:r>
                        <a:rPr lang="en-GB" sz="1400" b="0" i="0">
                          <a:solidFill>
                            <a:srgbClr val="000000"/>
                          </a:solidFill>
                          <a:effectLst/>
                          <a:latin typeface="Calibri" panose="020F0502020204030204" pitchFamily="34" charset="0"/>
                        </a:rPr>
                        <a:t>2 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92D050"/>
                    </a:solidFill>
                  </a:tcPr>
                </a:tc>
                <a:tc>
                  <a:txBody>
                    <a:bodyPr/>
                    <a:lstStyle/>
                    <a:p>
                      <a:pPr algn="ctr" rtl="0" fontAlgn="base"/>
                      <a:r>
                        <a:rPr lang="en-GB" sz="1400" b="0" i="0">
                          <a:solidFill>
                            <a:srgbClr val="000000"/>
                          </a:solidFill>
                          <a:effectLst/>
                          <a:latin typeface="Calibri" panose="020F0502020204030204" pitchFamily="34" charset="0"/>
                        </a:rPr>
                        <a:t>4 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92D050"/>
                    </a:solidFill>
                  </a:tcPr>
                </a:tc>
                <a:tc>
                  <a:txBody>
                    <a:bodyPr/>
                    <a:lstStyle/>
                    <a:p>
                      <a:pPr algn="ctr" rtl="0" fontAlgn="base"/>
                      <a:r>
                        <a:rPr lang="en-GB" sz="1400" b="0" i="0">
                          <a:solidFill>
                            <a:srgbClr val="000000"/>
                          </a:solidFill>
                          <a:effectLst/>
                          <a:latin typeface="Calibri" panose="020F0502020204030204" pitchFamily="34" charset="0"/>
                        </a:rPr>
                        <a:t>6 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C000"/>
                    </a:solidFill>
                  </a:tcPr>
                </a:tc>
                <a:tc>
                  <a:txBody>
                    <a:bodyPr/>
                    <a:lstStyle/>
                    <a:p>
                      <a:pPr algn="ctr" rtl="0" fontAlgn="base"/>
                      <a:r>
                        <a:rPr lang="en-GB" sz="1400" b="0" i="0">
                          <a:solidFill>
                            <a:srgbClr val="000000"/>
                          </a:solidFill>
                          <a:effectLst/>
                          <a:latin typeface="Calibri" panose="020F0502020204030204" pitchFamily="34" charset="0"/>
                        </a:rPr>
                        <a:t>8 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C000"/>
                    </a:solidFill>
                  </a:tcPr>
                </a:tc>
                <a:tc>
                  <a:txBody>
                    <a:bodyPr/>
                    <a:lstStyle/>
                    <a:p>
                      <a:pPr algn="ctr" rtl="0" fontAlgn="base"/>
                      <a:r>
                        <a:rPr lang="en-GB" sz="1400" b="0" i="0">
                          <a:solidFill>
                            <a:srgbClr val="000000"/>
                          </a:solidFill>
                          <a:effectLst/>
                          <a:latin typeface="Calibri" panose="020F0502020204030204" pitchFamily="34" charset="0"/>
                        </a:rPr>
                        <a:t>10 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C000"/>
                    </a:solidFill>
                  </a:tcPr>
                </a:tc>
                <a:extLst>
                  <a:ext uri="{0D108BD9-81ED-4DB2-BD59-A6C34878D82A}">
                    <a16:rowId xmlns:a16="http://schemas.microsoft.com/office/drawing/2014/main" val="3547694069"/>
                  </a:ext>
                </a:extLst>
              </a:tr>
              <a:tr h="509350">
                <a:tc vMerge="1">
                  <a:txBody>
                    <a:bodyPr/>
                    <a:lstStyle/>
                    <a:p>
                      <a:endParaRPr lang="en-GB"/>
                    </a:p>
                  </a:txBody>
                  <a:tcPr/>
                </a:tc>
                <a:tc>
                  <a:txBody>
                    <a:bodyPr/>
                    <a:lstStyle/>
                    <a:p>
                      <a:pPr algn="ctr" rtl="0" fontAlgn="base"/>
                      <a:r>
                        <a:rPr lang="en-GB" sz="1400" b="0" i="0">
                          <a:solidFill>
                            <a:srgbClr val="000000"/>
                          </a:solidFill>
                          <a:effectLst/>
                          <a:latin typeface="Calibri" panose="020F0502020204030204" pitchFamily="34" charset="0"/>
                        </a:rPr>
                        <a:t>1 </a:t>
                      </a:r>
                      <a:endParaRPr lang="en-GB" sz="1400" b="0" i="0">
                        <a:effectLst/>
                      </a:endParaRPr>
                    </a:p>
                  </a:txBody>
                  <a:tcPr anchor="ctr">
                    <a:lnL>
                      <a:noFill/>
                    </a:lnL>
                    <a:lnR w="9525" cap="flat" cmpd="sng" algn="ctr">
                      <a:solidFill>
                        <a:schemeClr val="bg1"/>
                      </a:solidFill>
                      <a:prstDash val="solid"/>
                      <a:round/>
                      <a:headEnd type="none" w="med" len="med"/>
                      <a:tailEnd type="none" w="med" len="med"/>
                    </a:lnR>
                    <a:lnT>
                      <a:noFill/>
                    </a:lnT>
                    <a:lnB>
                      <a:noFill/>
                    </a:lnB>
                    <a:solidFill>
                      <a:srgbClr val="FFFFFF"/>
                    </a:solidFill>
                  </a:tcPr>
                </a:tc>
                <a:tc>
                  <a:txBody>
                    <a:bodyPr/>
                    <a:lstStyle/>
                    <a:p>
                      <a:pPr algn="ctr" rtl="0" fontAlgn="base"/>
                      <a:r>
                        <a:rPr lang="en-GB" sz="1400" b="0" i="0">
                          <a:solidFill>
                            <a:srgbClr val="000000"/>
                          </a:solidFill>
                          <a:effectLst/>
                          <a:latin typeface="Calibri" panose="020F0502020204030204" pitchFamily="34" charset="0"/>
                        </a:rPr>
                        <a:t>1 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E0EF13"/>
                      </a:solidFill>
                      <a:prstDash val="solid"/>
                      <a:round/>
                      <a:headEnd type="none" w="med" len="med"/>
                      <a:tailEnd type="none" w="med" len="med"/>
                    </a:lnB>
                    <a:solidFill>
                      <a:srgbClr val="92D050"/>
                    </a:solidFill>
                  </a:tcPr>
                </a:tc>
                <a:tc>
                  <a:txBody>
                    <a:bodyPr/>
                    <a:lstStyle/>
                    <a:p>
                      <a:pPr algn="ctr" rtl="0" fontAlgn="base"/>
                      <a:r>
                        <a:rPr lang="en-GB" sz="1400" b="0" i="0">
                          <a:solidFill>
                            <a:srgbClr val="000000"/>
                          </a:solidFill>
                          <a:effectLst/>
                          <a:latin typeface="Calibri" panose="020F0502020204030204" pitchFamily="34" charset="0"/>
                        </a:rPr>
                        <a:t>2 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A0FF13"/>
                      </a:solidFill>
                      <a:prstDash val="solid"/>
                      <a:round/>
                      <a:headEnd type="none" w="med" len="med"/>
                      <a:tailEnd type="none" w="med" len="med"/>
                    </a:lnB>
                    <a:solidFill>
                      <a:srgbClr val="92D050"/>
                    </a:solidFill>
                  </a:tcPr>
                </a:tc>
                <a:tc>
                  <a:txBody>
                    <a:bodyPr/>
                    <a:lstStyle/>
                    <a:p>
                      <a:pPr algn="ctr" rtl="0" fontAlgn="base"/>
                      <a:r>
                        <a:rPr lang="en-GB" sz="1400" b="0" i="0">
                          <a:solidFill>
                            <a:srgbClr val="000000"/>
                          </a:solidFill>
                          <a:effectLst/>
                          <a:latin typeface="Calibri" panose="020F0502020204030204" pitchFamily="34" charset="0"/>
                        </a:rPr>
                        <a:t>3 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000314"/>
                      </a:solidFill>
                      <a:prstDash val="solid"/>
                      <a:round/>
                      <a:headEnd type="none" w="med" len="med"/>
                      <a:tailEnd type="none" w="med" len="med"/>
                    </a:lnB>
                    <a:solidFill>
                      <a:srgbClr val="92D050"/>
                    </a:solidFill>
                  </a:tcPr>
                </a:tc>
                <a:tc>
                  <a:txBody>
                    <a:bodyPr/>
                    <a:lstStyle/>
                    <a:p>
                      <a:pPr algn="ctr" rtl="0" fontAlgn="base"/>
                      <a:r>
                        <a:rPr lang="en-GB" sz="1400" b="0" i="0">
                          <a:solidFill>
                            <a:srgbClr val="000000"/>
                          </a:solidFill>
                          <a:effectLst/>
                          <a:latin typeface="Calibri" panose="020F0502020204030204" pitchFamily="34" charset="0"/>
                        </a:rPr>
                        <a:t>4 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C0FD13"/>
                      </a:solidFill>
                      <a:prstDash val="solid"/>
                      <a:round/>
                      <a:headEnd type="none" w="med" len="med"/>
                      <a:tailEnd type="none" w="med" len="med"/>
                    </a:lnB>
                    <a:solidFill>
                      <a:srgbClr val="92D050"/>
                    </a:solidFill>
                  </a:tcPr>
                </a:tc>
                <a:tc>
                  <a:txBody>
                    <a:bodyPr/>
                    <a:lstStyle/>
                    <a:p>
                      <a:pPr algn="ctr" rtl="0" fontAlgn="base"/>
                      <a:r>
                        <a:rPr lang="en-GB" sz="1400" b="0" i="0">
                          <a:solidFill>
                            <a:srgbClr val="000000"/>
                          </a:solidFill>
                          <a:effectLst/>
                          <a:latin typeface="Calibri" panose="020F0502020204030204" pitchFamily="34" charset="0"/>
                        </a:rPr>
                        <a:t>5 </a:t>
                      </a:r>
                      <a:endParaRPr lang="en-GB" sz="1400" b="0" i="0">
                        <a:effectLs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E00B14"/>
                      </a:solidFill>
                      <a:prstDash val="solid"/>
                      <a:round/>
                      <a:headEnd type="none" w="med" len="med"/>
                      <a:tailEnd type="none" w="med" len="med"/>
                    </a:lnB>
                    <a:solidFill>
                      <a:srgbClr val="FFC000"/>
                    </a:solidFill>
                  </a:tcPr>
                </a:tc>
                <a:extLst>
                  <a:ext uri="{0D108BD9-81ED-4DB2-BD59-A6C34878D82A}">
                    <a16:rowId xmlns:a16="http://schemas.microsoft.com/office/drawing/2014/main" val="3683031327"/>
                  </a:ext>
                </a:extLst>
              </a:tr>
              <a:tr h="509350">
                <a:tc gridSpan="2">
                  <a:txBody>
                    <a:bodyPr/>
                    <a:lstStyle/>
                    <a:p>
                      <a:pPr algn="l" rtl="0" fontAlgn="base"/>
                      <a:r>
                        <a:rPr lang="en-GB" sz="1400" b="0" i="0">
                          <a:effectLst/>
                          <a:latin typeface="Calibri" panose="020F0502020204030204" pitchFamily="34" charset="0"/>
                        </a:rPr>
                        <a:t> </a:t>
                      </a:r>
                    </a:p>
                  </a:txBody>
                  <a:tcPr>
                    <a:lnL>
                      <a:noFill/>
                    </a:lnL>
                    <a:lnR>
                      <a:noFill/>
                    </a:lnR>
                    <a:lnT>
                      <a:noFill/>
                    </a:lnT>
                    <a:lnB>
                      <a:noFill/>
                    </a:lnB>
                  </a:tcPr>
                </a:tc>
                <a:tc hMerge="1">
                  <a:txBody>
                    <a:bodyPr/>
                    <a:lstStyle/>
                    <a:p>
                      <a:endParaRPr lang="en-GB"/>
                    </a:p>
                  </a:txBody>
                  <a:tcPr/>
                </a:tc>
                <a:tc>
                  <a:txBody>
                    <a:bodyPr/>
                    <a:lstStyle/>
                    <a:p>
                      <a:pPr algn="ctr" rtl="0" fontAlgn="base"/>
                      <a:r>
                        <a:rPr lang="en-GB" sz="1400" b="0" i="0">
                          <a:solidFill>
                            <a:srgbClr val="000000"/>
                          </a:solidFill>
                          <a:effectLst/>
                          <a:latin typeface="Calibri" panose="020F0502020204030204" pitchFamily="34" charset="0"/>
                        </a:rPr>
                        <a:t>1 </a:t>
                      </a:r>
                      <a:endParaRPr lang="en-GB" sz="1400" b="0" i="0">
                        <a:effectLst/>
                      </a:endParaRPr>
                    </a:p>
                  </a:txBody>
                  <a:tcPr anchor="b">
                    <a:lnL>
                      <a:noFill/>
                    </a:lnL>
                    <a:lnR>
                      <a:noFill/>
                    </a:lnR>
                    <a:lnT w="9525" cap="flat" cmpd="sng" algn="ctr">
                      <a:solidFill>
                        <a:srgbClr val="E0EF13"/>
                      </a:solidFill>
                      <a:prstDash val="solid"/>
                      <a:round/>
                      <a:headEnd type="none" w="med" len="med"/>
                      <a:tailEnd type="none" w="med" len="med"/>
                    </a:lnT>
                    <a:lnB>
                      <a:noFill/>
                    </a:lnB>
                    <a:solidFill>
                      <a:srgbClr val="FFFFFF"/>
                    </a:solidFill>
                  </a:tcPr>
                </a:tc>
                <a:tc>
                  <a:txBody>
                    <a:bodyPr/>
                    <a:lstStyle/>
                    <a:p>
                      <a:pPr algn="ctr" rtl="0" fontAlgn="base"/>
                      <a:r>
                        <a:rPr lang="en-GB" sz="1400" b="0" i="0">
                          <a:solidFill>
                            <a:srgbClr val="000000"/>
                          </a:solidFill>
                          <a:effectLst/>
                          <a:latin typeface="Calibri" panose="020F0502020204030204" pitchFamily="34" charset="0"/>
                        </a:rPr>
                        <a:t>2 </a:t>
                      </a:r>
                      <a:endParaRPr lang="en-GB" sz="1400" b="0" i="0">
                        <a:effectLst/>
                      </a:endParaRPr>
                    </a:p>
                  </a:txBody>
                  <a:tcPr anchor="b">
                    <a:lnL>
                      <a:noFill/>
                    </a:lnL>
                    <a:lnR>
                      <a:noFill/>
                    </a:lnR>
                    <a:lnT w="9525" cap="flat" cmpd="sng" algn="ctr">
                      <a:solidFill>
                        <a:srgbClr val="A0FF13"/>
                      </a:solidFill>
                      <a:prstDash val="solid"/>
                      <a:round/>
                      <a:headEnd type="none" w="med" len="med"/>
                      <a:tailEnd type="none" w="med" len="med"/>
                    </a:lnT>
                    <a:lnB>
                      <a:noFill/>
                    </a:lnB>
                    <a:solidFill>
                      <a:srgbClr val="FFFFFF"/>
                    </a:solidFill>
                  </a:tcPr>
                </a:tc>
                <a:tc>
                  <a:txBody>
                    <a:bodyPr/>
                    <a:lstStyle/>
                    <a:p>
                      <a:pPr algn="ctr" rtl="0" fontAlgn="base"/>
                      <a:r>
                        <a:rPr lang="en-GB" sz="1400" b="0" i="0">
                          <a:solidFill>
                            <a:srgbClr val="000000"/>
                          </a:solidFill>
                          <a:effectLst/>
                          <a:latin typeface="Calibri" panose="020F0502020204030204" pitchFamily="34" charset="0"/>
                        </a:rPr>
                        <a:t>3 </a:t>
                      </a:r>
                      <a:endParaRPr lang="en-GB" sz="1400" b="0" i="0">
                        <a:effectLst/>
                      </a:endParaRPr>
                    </a:p>
                  </a:txBody>
                  <a:tcPr anchor="b">
                    <a:lnL>
                      <a:noFill/>
                    </a:lnL>
                    <a:lnR>
                      <a:noFill/>
                    </a:lnR>
                    <a:lnT w="9525" cap="flat" cmpd="sng" algn="ctr">
                      <a:solidFill>
                        <a:srgbClr val="000314"/>
                      </a:solidFill>
                      <a:prstDash val="solid"/>
                      <a:round/>
                      <a:headEnd type="none" w="med" len="med"/>
                      <a:tailEnd type="none" w="med" len="med"/>
                    </a:lnT>
                    <a:lnB>
                      <a:noFill/>
                    </a:lnB>
                    <a:solidFill>
                      <a:srgbClr val="FFFFFF"/>
                    </a:solidFill>
                  </a:tcPr>
                </a:tc>
                <a:tc>
                  <a:txBody>
                    <a:bodyPr/>
                    <a:lstStyle/>
                    <a:p>
                      <a:pPr algn="ctr" rtl="0" fontAlgn="base"/>
                      <a:r>
                        <a:rPr lang="en-GB" sz="1400" b="0" i="0">
                          <a:solidFill>
                            <a:srgbClr val="000000"/>
                          </a:solidFill>
                          <a:effectLst/>
                          <a:latin typeface="Calibri" panose="020F0502020204030204" pitchFamily="34" charset="0"/>
                        </a:rPr>
                        <a:t>4 </a:t>
                      </a:r>
                      <a:endParaRPr lang="en-GB" sz="1400" b="0" i="0">
                        <a:effectLst/>
                      </a:endParaRPr>
                    </a:p>
                  </a:txBody>
                  <a:tcPr anchor="b">
                    <a:lnL>
                      <a:noFill/>
                    </a:lnL>
                    <a:lnR>
                      <a:noFill/>
                    </a:lnR>
                    <a:lnT w="9525" cap="flat" cmpd="sng" algn="ctr">
                      <a:solidFill>
                        <a:srgbClr val="C0FD13"/>
                      </a:solidFill>
                      <a:prstDash val="solid"/>
                      <a:round/>
                      <a:headEnd type="none" w="med" len="med"/>
                      <a:tailEnd type="none" w="med" len="med"/>
                    </a:lnT>
                    <a:lnB>
                      <a:noFill/>
                    </a:lnB>
                    <a:solidFill>
                      <a:srgbClr val="FFFFFF"/>
                    </a:solidFill>
                  </a:tcPr>
                </a:tc>
                <a:tc>
                  <a:txBody>
                    <a:bodyPr/>
                    <a:lstStyle/>
                    <a:p>
                      <a:pPr algn="ctr" rtl="0" fontAlgn="base"/>
                      <a:r>
                        <a:rPr lang="en-GB" sz="1400" b="0" i="0" dirty="0">
                          <a:solidFill>
                            <a:srgbClr val="000000"/>
                          </a:solidFill>
                          <a:effectLst/>
                          <a:latin typeface="Calibri" panose="020F0502020204030204" pitchFamily="34" charset="0"/>
                        </a:rPr>
                        <a:t>5 </a:t>
                      </a:r>
                      <a:endParaRPr lang="en-GB" sz="1400" b="0" i="0" dirty="0">
                        <a:effectLst/>
                      </a:endParaRPr>
                    </a:p>
                  </a:txBody>
                  <a:tcPr anchor="b">
                    <a:lnL>
                      <a:noFill/>
                    </a:lnL>
                    <a:lnR>
                      <a:noFill/>
                    </a:lnR>
                    <a:lnT w="9525" cap="flat" cmpd="sng" algn="ctr">
                      <a:solidFill>
                        <a:srgbClr val="E00B14"/>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715139223"/>
                  </a:ext>
                </a:extLst>
              </a:tr>
            </a:tbl>
          </a:graphicData>
        </a:graphic>
      </p:graphicFrame>
      <p:sp>
        <p:nvSpPr>
          <p:cNvPr id="3" name="TextBox 2">
            <a:extLst>
              <a:ext uri="{FF2B5EF4-FFF2-40B4-BE49-F238E27FC236}">
                <a16:creationId xmlns:a16="http://schemas.microsoft.com/office/drawing/2014/main" id="{7D6EF9F8-39BB-A8F1-F60A-28E245BED00E}"/>
              </a:ext>
            </a:extLst>
          </p:cNvPr>
          <p:cNvSpPr txBox="1"/>
          <p:nvPr/>
        </p:nvSpPr>
        <p:spPr>
          <a:xfrm>
            <a:off x="5347854" y="4580377"/>
            <a:ext cx="969819" cy="369332"/>
          </a:xfrm>
          <a:prstGeom prst="rect">
            <a:avLst/>
          </a:prstGeom>
          <a:noFill/>
        </p:spPr>
        <p:txBody>
          <a:bodyPr wrap="square" rtlCol="0">
            <a:spAutoFit/>
          </a:bodyPr>
          <a:lstStyle/>
          <a:p>
            <a:pPr algn="ctr"/>
            <a:r>
              <a:rPr lang="en-GB" dirty="0"/>
              <a:t>Impact</a:t>
            </a:r>
            <a:endParaRPr lang="en-US" dirty="0"/>
          </a:p>
        </p:txBody>
      </p:sp>
    </p:spTree>
    <p:extLst>
      <p:ext uri="{BB962C8B-B14F-4D97-AF65-F5344CB8AC3E}">
        <p14:creationId xmlns:p14="http://schemas.microsoft.com/office/powerpoint/2010/main" val="3534056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a:extLst>
              <a:ext uri="{FF2B5EF4-FFF2-40B4-BE49-F238E27FC236}">
                <a16:creationId xmlns:a16="http://schemas.microsoft.com/office/drawing/2014/main" id="{6393712D-3AE3-4EDD-B0F6-4DD6D74A6481}"/>
              </a:ext>
            </a:extLst>
          </p:cNvPr>
          <p:cNvSpPr>
            <a:spLocks noGrp="1"/>
          </p:cNvSpPr>
          <p:nvPr>
            <p:ph idx="1"/>
          </p:nvPr>
        </p:nvSpPr>
        <p:spPr>
          <a:xfrm>
            <a:off x="2152637" y="2024844"/>
            <a:ext cx="7200900" cy="3852428"/>
          </a:xfrm>
        </p:spPr>
        <p:txBody>
          <a:bodyPr/>
          <a:lstStyle/>
          <a:p>
            <a:pPr marL="271145" indent="-271145"/>
            <a:r>
              <a:rPr lang="en-GB" altLang="en-US" dirty="0"/>
              <a:t>Risk assessments must be reviewed at least annually</a:t>
            </a:r>
          </a:p>
          <a:p>
            <a:pPr marL="271145" indent="-271145"/>
            <a:r>
              <a:rPr lang="en-GB" altLang="en-US" dirty="0"/>
              <a:t>Risk assessments must be reviewed when the work changes</a:t>
            </a:r>
          </a:p>
          <a:p>
            <a:pPr marL="271145" indent="-271145"/>
            <a:r>
              <a:rPr lang="en-GB" altLang="en-US" dirty="0"/>
              <a:t>Risk assessments should be reviewed after an incident, accident or near-miss</a:t>
            </a:r>
          </a:p>
        </p:txBody>
      </p:sp>
      <p:sp>
        <p:nvSpPr>
          <p:cNvPr id="5" name="Title 1">
            <a:extLst>
              <a:ext uri="{FF2B5EF4-FFF2-40B4-BE49-F238E27FC236}">
                <a16:creationId xmlns:a16="http://schemas.microsoft.com/office/drawing/2014/main" id="{44CA0919-5293-4A70-8F8F-6A8073BD6998}"/>
              </a:ext>
            </a:extLst>
          </p:cNvPr>
          <p:cNvSpPr txBox="1">
            <a:spLocks/>
          </p:cNvSpPr>
          <p:nvPr/>
        </p:nvSpPr>
        <p:spPr bwMode="auto">
          <a:xfrm>
            <a:off x="2135189" y="836712"/>
            <a:ext cx="7056437" cy="52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2pPr>
            <a:lvl3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3pPr>
            <a:lvl4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4pPr>
            <a:lvl5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5pPr>
            <a:lvl6pPr marL="457200" algn="l" rtl="0" fontAlgn="base">
              <a:spcBef>
                <a:spcPct val="0"/>
              </a:spcBef>
              <a:spcAft>
                <a:spcPct val="0"/>
              </a:spcAft>
              <a:defRPr sz="3600" b="1">
                <a:solidFill>
                  <a:schemeClr val="tx2"/>
                </a:solidFill>
                <a:latin typeface="Lucida Sans" pitchFamily="34" charset="0"/>
                <a:ea typeface="ＭＳ Ｐゴシック" pitchFamily="16" charset="-128"/>
              </a:defRPr>
            </a:lvl6pPr>
            <a:lvl7pPr marL="914400" algn="l" rtl="0" fontAlgn="base">
              <a:spcBef>
                <a:spcPct val="0"/>
              </a:spcBef>
              <a:spcAft>
                <a:spcPct val="0"/>
              </a:spcAft>
              <a:defRPr sz="3600" b="1">
                <a:solidFill>
                  <a:schemeClr val="tx2"/>
                </a:solidFill>
                <a:latin typeface="Lucida Sans" pitchFamily="34" charset="0"/>
                <a:ea typeface="ＭＳ Ｐゴシック" pitchFamily="16" charset="-128"/>
              </a:defRPr>
            </a:lvl7pPr>
            <a:lvl8pPr marL="1371600" algn="l" rtl="0" fontAlgn="base">
              <a:spcBef>
                <a:spcPct val="0"/>
              </a:spcBef>
              <a:spcAft>
                <a:spcPct val="0"/>
              </a:spcAft>
              <a:defRPr sz="3600" b="1">
                <a:solidFill>
                  <a:schemeClr val="tx2"/>
                </a:solidFill>
                <a:latin typeface="Lucida Sans" pitchFamily="34" charset="0"/>
                <a:ea typeface="ＭＳ Ｐゴシック" pitchFamily="16" charset="-128"/>
              </a:defRPr>
            </a:lvl8pPr>
            <a:lvl9pPr marL="1828800" algn="l" rtl="0" fontAlgn="base">
              <a:spcBef>
                <a:spcPct val="0"/>
              </a:spcBef>
              <a:spcAft>
                <a:spcPct val="0"/>
              </a:spcAft>
              <a:defRPr sz="3600" b="1">
                <a:solidFill>
                  <a:schemeClr val="tx2"/>
                </a:solidFill>
                <a:latin typeface="Lucida Sans" pitchFamily="34" charset="0"/>
                <a:ea typeface="ＭＳ Ｐゴシック" pitchFamily="16" charset="-128"/>
              </a:defRPr>
            </a:lvl9pPr>
          </a:lstStyle>
          <a:p>
            <a:pPr>
              <a:defRPr/>
            </a:pPr>
            <a:r>
              <a:rPr lang="en-GB">
                <a:ea typeface="+mj-lt"/>
                <a:cs typeface="+mj-lt"/>
              </a:rPr>
              <a:t>How to Assess Risk - Review</a:t>
            </a:r>
            <a:endParaRPr lang="en-GB" b="0">
              <a:ea typeface="+mj-lt"/>
              <a:cs typeface="+mj-lt"/>
            </a:endParaRPr>
          </a:p>
        </p:txBody>
      </p:sp>
    </p:spTree>
    <p:extLst>
      <p:ext uri="{BB962C8B-B14F-4D97-AF65-F5344CB8AC3E}">
        <p14:creationId xmlns:p14="http://schemas.microsoft.com/office/powerpoint/2010/main" val="345394094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74166-455B-14F9-E782-D19192F02A81}"/>
              </a:ext>
            </a:extLst>
          </p:cNvPr>
          <p:cNvSpPr>
            <a:spLocks noGrp="1"/>
          </p:cNvSpPr>
          <p:nvPr>
            <p:ph type="title"/>
          </p:nvPr>
        </p:nvSpPr>
        <p:spPr/>
        <p:txBody>
          <a:bodyPr/>
          <a:lstStyle/>
          <a:p>
            <a:r>
              <a:rPr lang="en-GB" dirty="0"/>
              <a:t>Near Misses or Other Concerns</a:t>
            </a:r>
          </a:p>
        </p:txBody>
      </p:sp>
      <p:sp>
        <p:nvSpPr>
          <p:cNvPr id="3" name="Content Placeholder 2">
            <a:extLst>
              <a:ext uri="{FF2B5EF4-FFF2-40B4-BE49-F238E27FC236}">
                <a16:creationId xmlns:a16="http://schemas.microsoft.com/office/drawing/2014/main" id="{1762FFA3-F3FC-96E9-345F-5FC426BFB436}"/>
              </a:ext>
            </a:extLst>
          </p:cNvPr>
          <p:cNvSpPr>
            <a:spLocks noGrp="1"/>
          </p:cNvSpPr>
          <p:nvPr>
            <p:ph idx="1"/>
          </p:nvPr>
        </p:nvSpPr>
        <p:spPr>
          <a:xfrm>
            <a:off x="838200" y="1825625"/>
            <a:ext cx="10515600" cy="2033143"/>
          </a:xfrm>
        </p:spPr>
        <p:txBody>
          <a:bodyPr/>
          <a:lstStyle/>
          <a:p>
            <a:r>
              <a:rPr lang="en-GB" dirty="0"/>
              <a:t>Reporting near misses/concerns isn’t about getting someone, or yourself, told off. </a:t>
            </a:r>
          </a:p>
          <a:p>
            <a:r>
              <a:rPr lang="en-GB" dirty="0"/>
              <a:t>It is part of ensuring you and others are safe. </a:t>
            </a:r>
          </a:p>
          <a:p>
            <a:r>
              <a:rPr lang="en-GB" dirty="0"/>
              <a:t>Imagine you failed to report a near miss and next time it didn’t miss. </a:t>
            </a:r>
          </a:p>
        </p:txBody>
      </p:sp>
    </p:spTree>
    <p:extLst>
      <p:ext uri="{BB962C8B-B14F-4D97-AF65-F5344CB8AC3E}">
        <p14:creationId xmlns:p14="http://schemas.microsoft.com/office/powerpoint/2010/main" val="3202811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12AF3-85AF-095A-8BD9-27A4AED86304}"/>
              </a:ext>
            </a:extLst>
          </p:cNvPr>
          <p:cNvSpPr>
            <a:spLocks noGrp="1"/>
          </p:cNvSpPr>
          <p:nvPr>
            <p:ph type="title"/>
          </p:nvPr>
        </p:nvSpPr>
        <p:spPr/>
        <p:txBody>
          <a:bodyPr/>
          <a:lstStyle/>
          <a:p>
            <a:r>
              <a:rPr lang="en-GB" dirty="0"/>
              <a:t>Conclusions</a:t>
            </a:r>
          </a:p>
        </p:txBody>
      </p:sp>
      <p:sp>
        <p:nvSpPr>
          <p:cNvPr id="3" name="Content Placeholder 2">
            <a:extLst>
              <a:ext uri="{FF2B5EF4-FFF2-40B4-BE49-F238E27FC236}">
                <a16:creationId xmlns:a16="http://schemas.microsoft.com/office/drawing/2014/main" id="{2A516EAA-C985-1E5E-9C88-934B427E5447}"/>
              </a:ext>
            </a:extLst>
          </p:cNvPr>
          <p:cNvSpPr>
            <a:spLocks noGrp="1"/>
          </p:cNvSpPr>
          <p:nvPr>
            <p:ph idx="1"/>
          </p:nvPr>
        </p:nvSpPr>
        <p:spPr/>
        <p:txBody>
          <a:bodyPr/>
          <a:lstStyle/>
          <a:p>
            <a:r>
              <a:rPr lang="en-GB" dirty="0"/>
              <a:t>Health and Safety at work is about ensuring that people go home unharmed. </a:t>
            </a:r>
          </a:p>
          <a:p>
            <a:r>
              <a:rPr lang="en-GB" dirty="0"/>
              <a:t>Achieving this requires some active effort from everyone including you. </a:t>
            </a:r>
          </a:p>
          <a:p>
            <a:r>
              <a:rPr lang="en-GB" dirty="0"/>
              <a:t>The paperwork is there to help and remind you of your responsibilities not to trip you up. Pun intended. </a:t>
            </a:r>
          </a:p>
        </p:txBody>
      </p:sp>
    </p:spTree>
    <p:extLst>
      <p:ext uri="{BB962C8B-B14F-4D97-AF65-F5344CB8AC3E}">
        <p14:creationId xmlns:p14="http://schemas.microsoft.com/office/powerpoint/2010/main" val="2850253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4CA0919-5293-4A70-8F8F-6A8073BD6998}"/>
              </a:ext>
            </a:extLst>
          </p:cNvPr>
          <p:cNvSpPr txBox="1">
            <a:spLocks/>
          </p:cNvSpPr>
          <p:nvPr/>
        </p:nvSpPr>
        <p:spPr bwMode="auto">
          <a:xfrm>
            <a:off x="2135189" y="836712"/>
            <a:ext cx="7056437" cy="52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2pPr>
            <a:lvl3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3pPr>
            <a:lvl4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4pPr>
            <a:lvl5pPr algn="l" rtl="0" eaLnBrk="0" fontAlgn="base" hangingPunct="0">
              <a:spcBef>
                <a:spcPct val="0"/>
              </a:spcBef>
              <a:spcAft>
                <a:spcPct val="0"/>
              </a:spcAft>
              <a:defRPr sz="3600" b="1">
                <a:solidFill>
                  <a:schemeClr val="tx2"/>
                </a:solidFill>
                <a:latin typeface="Lucida Sans" pitchFamily="34" charset="0"/>
                <a:ea typeface="ＭＳ Ｐゴシック" pitchFamily="16" charset="-128"/>
              </a:defRPr>
            </a:lvl5pPr>
            <a:lvl6pPr marL="457200" algn="l" rtl="0" fontAlgn="base">
              <a:spcBef>
                <a:spcPct val="0"/>
              </a:spcBef>
              <a:spcAft>
                <a:spcPct val="0"/>
              </a:spcAft>
              <a:defRPr sz="3600" b="1">
                <a:solidFill>
                  <a:schemeClr val="tx2"/>
                </a:solidFill>
                <a:latin typeface="Lucida Sans" pitchFamily="34" charset="0"/>
                <a:ea typeface="ＭＳ Ｐゴシック" pitchFamily="16" charset="-128"/>
              </a:defRPr>
            </a:lvl6pPr>
            <a:lvl7pPr marL="914400" algn="l" rtl="0" fontAlgn="base">
              <a:spcBef>
                <a:spcPct val="0"/>
              </a:spcBef>
              <a:spcAft>
                <a:spcPct val="0"/>
              </a:spcAft>
              <a:defRPr sz="3600" b="1">
                <a:solidFill>
                  <a:schemeClr val="tx2"/>
                </a:solidFill>
                <a:latin typeface="Lucida Sans" pitchFamily="34" charset="0"/>
                <a:ea typeface="ＭＳ Ｐゴシック" pitchFamily="16" charset="-128"/>
              </a:defRPr>
            </a:lvl7pPr>
            <a:lvl8pPr marL="1371600" algn="l" rtl="0" fontAlgn="base">
              <a:spcBef>
                <a:spcPct val="0"/>
              </a:spcBef>
              <a:spcAft>
                <a:spcPct val="0"/>
              </a:spcAft>
              <a:defRPr sz="3600" b="1">
                <a:solidFill>
                  <a:schemeClr val="tx2"/>
                </a:solidFill>
                <a:latin typeface="Lucida Sans" pitchFamily="34" charset="0"/>
                <a:ea typeface="ＭＳ Ｐゴシック" pitchFamily="16" charset="-128"/>
              </a:defRPr>
            </a:lvl8pPr>
            <a:lvl9pPr marL="1828800" algn="l" rtl="0" fontAlgn="base">
              <a:spcBef>
                <a:spcPct val="0"/>
              </a:spcBef>
              <a:spcAft>
                <a:spcPct val="0"/>
              </a:spcAft>
              <a:defRPr sz="3600" b="1">
                <a:solidFill>
                  <a:schemeClr val="tx2"/>
                </a:solidFill>
                <a:latin typeface="Lucida Sans" pitchFamily="34" charset="0"/>
                <a:ea typeface="ＭＳ Ｐゴシック" pitchFamily="16" charset="-128"/>
              </a:defRPr>
            </a:lvl9pPr>
          </a:lstStyle>
          <a:p>
            <a:pPr eaLnBrk="1" fontAlgn="auto" hangingPunct="1">
              <a:spcAft>
                <a:spcPts val="0"/>
              </a:spcAft>
              <a:defRPr/>
            </a:pPr>
            <a:r>
              <a:rPr lang="en-GB" altLang="en-US" dirty="0"/>
              <a:t>Reporting Incidents</a:t>
            </a:r>
            <a:endParaRPr lang="en-GB" kern="0" dirty="0">
              <a:solidFill>
                <a:schemeClr val="tx2">
                  <a:lumMod val="40000"/>
                  <a:lumOff val="60000"/>
                </a:schemeClr>
              </a:solidFill>
            </a:endParaRPr>
          </a:p>
        </p:txBody>
      </p:sp>
      <p:sp>
        <p:nvSpPr>
          <p:cNvPr id="6" name="Rectangle 5"/>
          <p:cNvSpPr/>
          <p:nvPr/>
        </p:nvSpPr>
        <p:spPr>
          <a:xfrm>
            <a:off x="5965195" y="3198168"/>
            <a:ext cx="242374" cy="369332"/>
          </a:xfrm>
          <a:prstGeom prst="rect">
            <a:avLst/>
          </a:prstGeom>
        </p:spPr>
        <p:txBody>
          <a:bodyPr wrap="none">
            <a:spAutoFit/>
          </a:bodyPr>
          <a:lstStyle/>
          <a:p>
            <a:r>
              <a:rPr lang="en-GB">
                <a:latin typeface="Times New Roman" panose="02020603050405020304" pitchFamily="18" charset="0"/>
              </a:rPr>
              <a:t> </a:t>
            </a:r>
            <a:endParaRPr lang="en-GB"/>
          </a:p>
        </p:txBody>
      </p:sp>
      <p:pic>
        <p:nvPicPr>
          <p:cNvPr id="2" name="Picture 1">
            <a:extLst>
              <a:ext uri="{FF2B5EF4-FFF2-40B4-BE49-F238E27FC236}">
                <a16:creationId xmlns:a16="http://schemas.microsoft.com/office/drawing/2014/main" id="{897DADF6-78CC-FD48-A76E-85B46538F45E}"/>
              </a:ext>
            </a:extLst>
          </p:cNvPr>
          <p:cNvPicPr>
            <a:picLocks noChangeAspect="1"/>
          </p:cNvPicPr>
          <p:nvPr/>
        </p:nvPicPr>
        <p:blipFill>
          <a:blip r:embed="rId3"/>
          <a:stretch>
            <a:fillRect/>
          </a:stretch>
        </p:blipFill>
        <p:spPr>
          <a:xfrm>
            <a:off x="2016815" y="2046932"/>
            <a:ext cx="8159082" cy="4112708"/>
          </a:xfrm>
          <a:prstGeom prst="rect">
            <a:avLst/>
          </a:prstGeom>
        </p:spPr>
      </p:pic>
    </p:spTree>
    <p:extLst>
      <p:ext uri="{BB962C8B-B14F-4D97-AF65-F5344CB8AC3E}">
        <p14:creationId xmlns:p14="http://schemas.microsoft.com/office/powerpoint/2010/main" val="4139804564"/>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27260</TotalTime>
  <Words>1396</Words>
  <Application>Microsoft Office PowerPoint</Application>
  <PresentationFormat>Widescreen</PresentationFormat>
  <Paragraphs>180</Paragraphs>
  <Slides>20</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Hammersmith One</vt:lpstr>
      <vt:lpstr>Lucida Sans</vt:lpstr>
      <vt:lpstr>Times New Roman</vt:lpstr>
      <vt:lpstr>Office Theme</vt:lpstr>
      <vt:lpstr>Health and Safety in Experimental Labs</vt:lpstr>
      <vt:lpstr>Crossing a Road</vt:lpstr>
      <vt:lpstr>Proposition</vt:lpstr>
      <vt:lpstr>What are the hazards in this lab?</vt:lpstr>
      <vt:lpstr>Observations</vt:lpstr>
      <vt:lpstr>PowerPoint Presentation</vt:lpstr>
      <vt:lpstr>Health and Safety Law</vt:lpstr>
      <vt:lpstr>Assessing the Risks – a Risk Assessment</vt:lpstr>
      <vt:lpstr>PowerPoint Presentation</vt:lpstr>
      <vt:lpstr>PowerPoint Presentation</vt:lpstr>
      <vt:lpstr>PowerPoint Presentation</vt:lpstr>
      <vt:lpstr>PowerPoint Presentation</vt:lpstr>
      <vt:lpstr>PowerPoint Presentation</vt:lpstr>
      <vt:lpstr>Control Measures </vt:lpstr>
      <vt:lpstr>The Approved Way to do a Risk Assessment</vt:lpstr>
      <vt:lpstr>Risk Matrix</vt:lpstr>
      <vt:lpstr>PowerPoint Presentation</vt:lpstr>
      <vt:lpstr>Near Misses or Other Concerns</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and Safety in Experimental Labs</dc:title>
  <dc:creator>David Smith</dc:creator>
  <cp:lastModifiedBy>David Smith</cp:lastModifiedBy>
  <cp:revision>6</cp:revision>
  <dcterms:created xsi:type="dcterms:W3CDTF">2024-06-05T11:55:04Z</dcterms:created>
  <dcterms:modified xsi:type="dcterms:W3CDTF">2025-09-30T13:01:19Z</dcterms:modified>
</cp:coreProperties>
</file>